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76" r:id="rId2"/>
    <p:sldId id="277" r:id="rId3"/>
    <p:sldId id="279" r:id="rId4"/>
    <p:sldId id="280" r:id="rId5"/>
    <p:sldId id="291" r:id="rId6"/>
    <p:sldId id="282" r:id="rId7"/>
    <p:sldId id="292" r:id="rId8"/>
    <p:sldId id="293" r:id="rId9"/>
    <p:sldId id="283" r:id="rId10"/>
    <p:sldId id="287" r:id="rId11"/>
    <p:sldId id="288" r:id="rId12"/>
    <p:sldId id="289" r:id="rId13"/>
    <p:sldId id="29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corp8448" initials="t" lastIdx="4" clrIdx="0">
    <p:extLst>
      <p:ext uri="{19B8F6BF-5375-455C-9EA6-DF929625EA0E}">
        <p15:presenceInfo xmlns:p15="http://schemas.microsoft.com/office/powerpoint/2012/main" userId="S-1-5-21-271812082-2186684487-532388487-1933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 y="1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9BDDB-EED7-41FA-8341-3D3D3E136EFC}" type="datetimeFigureOut">
              <a:rPr lang="en-US" smtClean="0"/>
              <a:t>4/23/2026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5E0D0F-D05E-457D-8DCC-55B15584B0D0}" type="slidenum">
              <a:rPr lang="en-US" smtClean="0"/>
              <a:t>‹#›</a:t>
            </a:fld>
            <a:endParaRPr lang="en-US" dirty="0"/>
          </a:p>
        </p:txBody>
      </p:sp>
    </p:spTree>
    <p:extLst>
      <p:ext uri="{BB962C8B-B14F-4D97-AF65-F5344CB8AC3E}">
        <p14:creationId xmlns:p14="http://schemas.microsoft.com/office/powerpoint/2010/main" val="4244768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7834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70931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3752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4843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4087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0263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7080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9515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00243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414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3716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6058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7" name="Google Shape;4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2620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8166D-D98C-46AE-8E56-5DBDEBB463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045C2B-4D57-4E67-BD81-E7B0FBE012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1F66B7-ADAD-4229-8AE8-EE3F782728F8}"/>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5" name="Footer Placeholder 4">
            <a:extLst>
              <a:ext uri="{FF2B5EF4-FFF2-40B4-BE49-F238E27FC236}">
                <a16:creationId xmlns:a16="http://schemas.microsoft.com/office/drawing/2014/main" id="{C05043F1-6E56-4BDD-A6B7-095B21FBDFD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E91FBD7-C0D9-471B-A3B3-0123143FA781}"/>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3432445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107F8-D869-44D8-B7A4-64EB0A9040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768149-1251-441B-B5DF-0AFD3D35B5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4156CB-FF47-4371-9B88-99CC1ABDDBAD}"/>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5" name="Footer Placeholder 4">
            <a:extLst>
              <a:ext uri="{FF2B5EF4-FFF2-40B4-BE49-F238E27FC236}">
                <a16:creationId xmlns:a16="http://schemas.microsoft.com/office/drawing/2014/main" id="{2EE03829-49FB-43BE-A3DF-6530C1D4964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53E96F6-C6CD-4A9C-986E-A694A7E41013}"/>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2660119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EDB9E-B434-4DCB-A417-B9A98E29F9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BFDFC8-3C3F-489A-80B9-72169719C8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DC33B6-2E85-4382-AFAC-3B5723FFE49A}"/>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5" name="Footer Placeholder 4">
            <a:extLst>
              <a:ext uri="{FF2B5EF4-FFF2-40B4-BE49-F238E27FC236}">
                <a16:creationId xmlns:a16="http://schemas.microsoft.com/office/drawing/2014/main" id="{2502B0C7-D4E4-4673-A967-7D9E9C8E945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4446F6E-1FF6-44C5-979C-0ED01F717C8A}"/>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1546937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E8E6B-610F-4BDC-836D-B707BB9E44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EBE985-42E4-4CBE-9352-BE51006451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A796F9-D224-41EF-82EA-6D4ACF90E1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EC36D3-F2CC-4D2E-9172-3116186BA122}"/>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6" name="Footer Placeholder 5">
            <a:extLst>
              <a:ext uri="{FF2B5EF4-FFF2-40B4-BE49-F238E27FC236}">
                <a16:creationId xmlns:a16="http://schemas.microsoft.com/office/drawing/2014/main" id="{6A748698-745F-4903-BCAC-C060DB5F711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C03925-096B-4496-9A88-E945550C1CE0}"/>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2794781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16AEA-1C1B-4A7E-B8B6-66EF10A051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D04789C-28F2-47B6-8E28-AD7D747E6A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AE7C69-A4EB-45E6-B05E-38582E18E5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474BCB-C848-4C7B-AF36-76DC4185CB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57522E-67C6-4F6B-B6AF-DFEC300194B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3E1A70-418B-455B-9258-9A50A0B30C02}"/>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8" name="Footer Placeholder 7">
            <a:extLst>
              <a:ext uri="{FF2B5EF4-FFF2-40B4-BE49-F238E27FC236}">
                <a16:creationId xmlns:a16="http://schemas.microsoft.com/office/drawing/2014/main" id="{F74CBB45-51E0-4647-9EA9-BA172DB2D60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2838E89-04DE-4358-95B5-AE4F36740706}"/>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277278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B7B2-2737-41CD-B4CF-5BBDA46E04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6ADBFC-1502-49F1-B320-35C33ED99F2D}"/>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4" name="Footer Placeholder 3">
            <a:extLst>
              <a:ext uri="{FF2B5EF4-FFF2-40B4-BE49-F238E27FC236}">
                <a16:creationId xmlns:a16="http://schemas.microsoft.com/office/drawing/2014/main" id="{41D2E5B3-4629-4C1F-805F-8FDC971979C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D37C4AF-0493-4459-94B5-91265B16026D}"/>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2654822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2BF304-1999-49AB-8A3A-A5E7A96DA89E}"/>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3" name="Footer Placeholder 2">
            <a:extLst>
              <a:ext uri="{FF2B5EF4-FFF2-40B4-BE49-F238E27FC236}">
                <a16:creationId xmlns:a16="http://schemas.microsoft.com/office/drawing/2014/main" id="{AF64F0CF-1D03-4324-BDAD-A369557BA21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5934DB0-5215-43D0-85EE-894863A2F1CB}"/>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4153292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A9DEC-ED6E-4502-820E-0AA1859C43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2C6B46-DC03-454A-ABEE-430F301BEA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3DF885-ECE2-43A7-8162-8AE0C63BE7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27271E-ABD7-43DB-BC02-71E6C655721E}"/>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6" name="Footer Placeholder 5">
            <a:extLst>
              <a:ext uri="{FF2B5EF4-FFF2-40B4-BE49-F238E27FC236}">
                <a16:creationId xmlns:a16="http://schemas.microsoft.com/office/drawing/2014/main" id="{F3E964FE-7F30-4BB4-B875-83889E2F8CA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03504CB-025F-4749-83C7-C15CA5FAF4D3}"/>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391242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12DBE-1823-45BE-8A07-98EBFB05E6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B3639C-F3A8-4D99-A6BF-3DC35B4754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6050CC04-67A7-4A5C-82E2-B2C2632B4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6366CD-1D5A-414E-A9CC-F7554979E02B}"/>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6" name="Footer Placeholder 5">
            <a:extLst>
              <a:ext uri="{FF2B5EF4-FFF2-40B4-BE49-F238E27FC236}">
                <a16:creationId xmlns:a16="http://schemas.microsoft.com/office/drawing/2014/main" id="{0D21E60F-123E-49F6-92DC-4654D269AD5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78AB8F1-0D29-4F1E-8EBA-837F115B3CE5}"/>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2119216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C5AF1-DF38-4C16-BD5A-8AC99D164B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D8ECED-89E6-42F6-A382-6E613C4D54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7893E8-4B58-43FC-9A4B-7DA7AFDD737A}"/>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5" name="Footer Placeholder 4">
            <a:extLst>
              <a:ext uri="{FF2B5EF4-FFF2-40B4-BE49-F238E27FC236}">
                <a16:creationId xmlns:a16="http://schemas.microsoft.com/office/drawing/2014/main" id="{206A23AA-61D5-4F24-A0E5-9BD20115A6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F40FA9F-924C-47D9-8596-1E0F583995A6}"/>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2727038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77D26D-A389-4C83-B238-998B22F473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5B0B89-4049-4CE3-8F6E-5275BE51E4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87F71A-A5D6-49C0-AADC-8F7F50788F91}"/>
              </a:ext>
            </a:extLst>
          </p:cNvPr>
          <p:cNvSpPr>
            <a:spLocks noGrp="1"/>
          </p:cNvSpPr>
          <p:nvPr>
            <p:ph type="dt" sz="half" idx="10"/>
          </p:nvPr>
        </p:nvSpPr>
        <p:spPr/>
        <p:txBody>
          <a:bodyPr/>
          <a:lstStyle/>
          <a:p>
            <a:fld id="{70D6C319-FBDF-4369-A085-72D29EE207B0}" type="datetimeFigureOut">
              <a:rPr lang="en-US" smtClean="0"/>
              <a:t>4/23/2026</a:t>
            </a:fld>
            <a:endParaRPr lang="en-US" dirty="0"/>
          </a:p>
        </p:txBody>
      </p:sp>
      <p:sp>
        <p:nvSpPr>
          <p:cNvPr id="5" name="Footer Placeholder 4">
            <a:extLst>
              <a:ext uri="{FF2B5EF4-FFF2-40B4-BE49-F238E27FC236}">
                <a16:creationId xmlns:a16="http://schemas.microsoft.com/office/drawing/2014/main" id="{62410DDF-A105-47E1-8C3E-8FF43566075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FF9B1DC-278D-4F1D-BFFE-E3DADE5E2D57}"/>
              </a:ext>
            </a:extLst>
          </p:cNvPr>
          <p:cNvSpPr>
            <a:spLocks noGrp="1"/>
          </p:cNvSpPr>
          <p:nvPr>
            <p:ph type="sldNum" sz="quarter" idx="12"/>
          </p:nvPr>
        </p:nvSpPr>
        <p:spPr/>
        <p:txBody>
          <a:bodyPr/>
          <a:lstStyle/>
          <a:p>
            <a:fld id="{D0A9795B-B314-423C-8FC6-8D75B3D8D619}" type="slidenum">
              <a:rPr lang="en-US" smtClean="0"/>
              <a:t>‹#›</a:t>
            </a:fld>
            <a:endParaRPr lang="en-US" dirty="0"/>
          </a:p>
        </p:txBody>
      </p:sp>
    </p:spTree>
    <p:extLst>
      <p:ext uri="{BB962C8B-B14F-4D97-AF65-F5344CB8AC3E}">
        <p14:creationId xmlns:p14="http://schemas.microsoft.com/office/powerpoint/2010/main" val="2251600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CE97CC-FA8A-450C-8A9D-FD6B9AB026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86F45E-F3FC-4636-B552-F50C04434A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6DFD9A-8F15-4BC3-9E44-87B3A56DE4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D6C319-FBDF-4369-A085-72D29EE207B0}" type="datetimeFigureOut">
              <a:rPr lang="en-US" smtClean="0"/>
              <a:t>4/23/2026</a:t>
            </a:fld>
            <a:endParaRPr lang="en-US" dirty="0"/>
          </a:p>
        </p:txBody>
      </p:sp>
      <p:sp>
        <p:nvSpPr>
          <p:cNvPr id="5" name="Footer Placeholder 4">
            <a:extLst>
              <a:ext uri="{FF2B5EF4-FFF2-40B4-BE49-F238E27FC236}">
                <a16:creationId xmlns:a16="http://schemas.microsoft.com/office/drawing/2014/main" id="{D091F7FD-15FC-4482-9FD0-EC787F692D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B9AA0C5-9525-4F34-A11E-7CB64A61AD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A9795B-B314-423C-8FC6-8D75B3D8D619}" type="slidenum">
              <a:rPr lang="en-US" smtClean="0"/>
              <a:t>‹#›</a:t>
            </a:fld>
            <a:endParaRPr lang="en-US" dirty="0"/>
          </a:p>
        </p:txBody>
      </p:sp>
    </p:spTree>
    <p:extLst>
      <p:ext uri="{BB962C8B-B14F-4D97-AF65-F5344CB8AC3E}">
        <p14:creationId xmlns:p14="http://schemas.microsoft.com/office/powerpoint/2010/main" val="8105634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23" name="Picture 22">
            <a:extLst>
              <a:ext uri="{FF2B5EF4-FFF2-40B4-BE49-F238E27FC236}">
                <a16:creationId xmlns:a16="http://schemas.microsoft.com/office/drawing/2014/main" id="{A484786E-9C4E-4275-95B2-A92D1978C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24" name="Picture 23">
            <a:extLst>
              <a:ext uri="{FF2B5EF4-FFF2-40B4-BE49-F238E27FC236}">
                <a16:creationId xmlns:a16="http://schemas.microsoft.com/office/drawing/2014/main" id="{4FB41FA1-4B1D-432C-B976-9BDEB4508D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grpSp>
        <p:nvGrpSpPr>
          <p:cNvPr id="49" name="Google Shape;49;p1"/>
          <p:cNvGrpSpPr/>
          <p:nvPr/>
        </p:nvGrpSpPr>
        <p:grpSpPr>
          <a:xfrm>
            <a:off x="1188717" y="1582190"/>
            <a:ext cx="3026671" cy="3867915"/>
            <a:chOff x="-1" y="-1"/>
            <a:chExt cx="3026669" cy="3867914"/>
          </a:xfrm>
        </p:grpSpPr>
        <p:sp>
          <p:nvSpPr>
            <p:cNvPr id="50" name="Google Shape;50;p1"/>
            <p:cNvSpPr/>
            <p:nvPr/>
          </p:nvSpPr>
          <p:spPr>
            <a:xfrm>
              <a:off x="-1" y="-1"/>
              <a:ext cx="3026669" cy="3867914"/>
            </a:xfrm>
            <a:prstGeom prst="rect">
              <a:avLst/>
            </a:prstGeom>
            <a:noFill/>
            <a:ln w="28575" cap="flat" cmpd="sng">
              <a:solidFill>
                <a:srgbClr val="203864"/>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203864"/>
                </a:buClr>
                <a:buSzPts val="1800"/>
                <a:buFont typeface="Calibri"/>
                <a:buNone/>
              </a:pPr>
              <a:endParaRPr sz="1800" b="0" i="0" u="none" strike="noStrike" cap="none" dirty="0">
                <a:solidFill>
                  <a:srgbClr val="203864"/>
                </a:solidFill>
                <a:latin typeface="Calibri"/>
                <a:ea typeface="Calibri"/>
                <a:cs typeface="Calibri"/>
                <a:sym typeface="Calibri"/>
              </a:endParaRPr>
            </a:p>
          </p:txBody>
        </p:sp>
        <p:sp>
          <p:nvSpPr>
            <p:cNvPr id="51" name="Google Shape;51;p1"/>
            <p:cNvSpPr txBox="1"/>
            <p:nvPr/>
          </p:nvSpPr>
          <p:spPr>
            <a:xfrm>
              <a:off x="60007" y="1610811"/>
              <a:ext cx="2906652" cy="646290"/>
            </a:xfrm>
            <a:prstGeom prst="rect">
              <a:avLst/>
            </a:prstGeom>
            <a:no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203864"/>
                </a:buClr>
                <a:buSzPts val="1800"/>
                <a:buFont typeface="Calibri"/>
                <a:buNone/>
              </a:pPr>
              <a:r>
                <a:rPr lang="mn-MN" dirty="0">
                  <a:solidFill>
                    <a:srgbClr val="203864"/>
                  </a:solidFill>
                  <a:latin typeface="Calibri"/>
                  <a:ea typeface="Calibri"/>
                  <a:cs typeface="Calibri"/>
                  <a:sym typeface="Calibri"/>
                </a:rPr>
                <a:t>БАГЫН НЭР</a:t>
              </a:r>
            </a:p>
            <a:p>
              <a:pPr marL="0" marR="0" lvl="0" indent="0" algn="ctr" rtl="0">
                <a:lnSpc>
                  <a:spcPct val="100000"/>
                </a:lnSpc>
                <a:spcBef>
                  <a:spcPts val="0"/>
                </a:spcBef>
                <a:spcAft>
                  <a:spcPts val="0"/>
                </a:spcAft>
                <a:buClr>
                  <a:srgbClr val="203864"/>
                </a:buClr>
                <a:buSzPts val="1800"/>
                <a:buFont typeface="Calibri"/>
                <a:buNone/>
              </a:pPr>
              <a:r>
                <a:rPr lang="mn-MN" dirty="0">
                  <a:solidFill>
                    <a:srgbClr val="203864"/>
                  </a:solidFill>
                  <a:latin typeface="Calibri"/>
                  <a:ea typeface="Calibri"/>
                  <a:cs typeface="Calibri"/>
                  <a:sym typeface="Calibri"/>
                </a:rPr>
                <a:t>ЗУРАГ</a:t>
              </a:r>
              <a:r>
                <a:rPr lang="en-US" dirty="0">
                  <a:solidFill>
                    <a:srgbClr val="203864"/>
                  </a:solidFill>
                  <a:latin typeface="Calibri"/>
                  <a:ea typeface="Calibri"/>
                  <a:cs typeface="Calibri"/>
                  <a:sym typeface="Calibri"/>
                </a:rPr>
                <a:t>/</a:t>
              </a:r>
              <a:r>
                <a:rPr lang="mn-MN" dirty="0">
                  <a:solidFill>
                    <a:srgbClr val="203864"/>
                  </a:solidFill>
                  <a:latin typeface="Calibri"/>
                  <a:ea typeface="Calibri"/>
                  <a:cs typeface="Calibri"/>
                  <a:sym typeface="Calibri"/>
                </a:rPr>
                <a:t>ТАНИЛЦУУЛГА</a:t>
              </a:r>
              <a:endParaRPr dirty="0"/>
            </a:p>
          </p:txBody>
        </p:sp>
      </p:grpSp>
      <p:grpSp>
        <p:nvGrpSpPr>
          <p:cNvPr id="52" name="Google Shape;52;p1"/>
          <p:cNvGrpSpPr/>
          <p:nvPr/>
        </p:nvGrpSpPr>
        <p:grpSpPr>
          <a:xfrm>
            <a:off x="5279130" y="1629990"/>
            <a:ext cx="5394967" cy="1143003"/>
            <a:chOff x="-2" y="0"/>
            <a:chExt cx="5394966" cy="1143001"/>
          </a:xfrm>
        </p:grpSpPr>
        <p:sp>
          <p:nvSpPr>
            <p:cNvPr id="53" name="Google Shape;53;p1"/>
            <p:cNvSpPr/>
            <p:nvPr/>
          </p:nvSpPr>
          <p:spPr>
            <a:xfrm>
              <a:off x="-2" y="0"/>
              <a:ext cx="5394966" cy="1143001"/>
            </a:xfrm>
            <a:prstGeom prst="rect">
              <a:avLst/>
            </a:prstGeom>
            <a:noFill/>
            <a:ln w="28575" cap="flat" cmpd="sng">
              <a:solidFill>
                <a:srgbClr val="203864"/>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203864"/>
                </a:buClr>
                <a:buSzPts val="1800"/>
                <a:buFont typeface="Calibri"/>
                <a:buNone/>
              </a:pPr>
              <a:endParaRPr sz="1800" b="0" i="0" u="none" strike="noStrike" cap="none" dirty="0">
                <a:solidFill>
                  <a:srgbClr val="203864"/>
                </a:solidFill>
                <a:latin typeface="Calibri"/>
                <a:ea typeface="Calibri"/>
                <a:cs typeface="Calibri"/>
                <a:sym typeface="Calibri"/>
              </a:endParaRPr>
            </a:p>
          </p:txBody>
        </p:sp>
        <p:sp>
          <p:nvSpPr>
            <p:cNvPr id="54" name="Google Shape;54;p1"/>
            <p:cNvSpPr txBox="1"/>
            <p:nvPr/>
          </p:nvSpPr>
          <p:spPr>
            <a:xfrm>
              <a:off x="60006" y="386854"/>
              <a:ext cx="5274950" cy="369290"/>
            </a:xfrm>
            <a:prstGeom prst="rect">
              <a:avLst/>
            </a:prstGeom>
            <a:no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203864"/>
                </a:buClr>
                <a:buSzPts val="1800"/>
                <a:buFont typeface="Calibri"/>
                <a:buNone/>
              </a:pPr>
              <a:r>
                <a:rPr lang="mn-MN" dirty="0">
                  <a:solidFill>
                    <a:srgbClr val="203864"/>
                  </a:solidFill>
                  <a:latin typeface="Calibri"/>
                  <a:ea typeface="Calibri"/>
                  <a:cs typeface="Calibri"/>
                  <a:sym typeface="Calibri"/>
                </a:rPr>
                <a:t>ТӨСЛИЙН НЭР</a:t>
              </a:r>
              <a:endParaRPr lang="mn-MN" dirty="0"/>
            </a:p>
          </p:txBody>
        </p:sp>
      </p:grpSp>
      <p:sp>
        <p:nvSpPr>
          <p:cNvPr id="55" name="Google Shape;55;p1"/>
          <p:cNvSpPr txBox="1"/>
          <p:nvPr/>
        </p:nvSpPr>
        <p:spPr>
          <a:xfrm>
            <a:off x="4491594" y="3513916"/>
            <a:ext cx="7497032" cy="64629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Clr>
                <a:srgbClr val="000000"/>
              </a:buClr>
              <a:buSzPts val="1800"/>
              <a:buFont typeface="Calibri"/>
              <a:buNone/>
            </a:pPr>
            <a:r>
              <a:rPr lang="mn-MN" dirty="0">
                <a:solidFill>
                  <a:srgbClr val="000000"/>
                </a:solidFill>
                <a:latin typeface="Calibri"/>
                <a:ea typeface="Calibri"/>
                <a:cs typeface="Calibri"/>
                <a:sym typeface="Calibri"/>
              </a:rPr>
              <a:t>Төслийн салбар: </a:t>
            </a:r>
          </a:p>
          <a:p>
            <a:pPr marL="0" marR="0" lvl="0" indent="0" algn="l" rtl="0">
              <a:lnSpc>
                <a:spcPct val="100000"/>
              </a:lnSpc>
              <a:spcBef>
                <a:spcPts val="0"/>
              </a:spcBef>
              <a:spcAft>
                <a:spcPts val="0"/>
              </a:spcAft>
              <a:buClr>
                <a:srgbClr val="000000"/>
              </a:buClr>
              <a:buSzPts val="1800"/>
              <a:buFont typeface="Calibri"/>
              <a:buNone/>
            </a:pPr>
            <a:r>
              <a:rPr lang="mn-MN" dirty="0"/>
              <a:t>Төслийн тодорхойлолт: </a:t>
            </a:r>
            <a:endParaRPr dirty="0"/>
          </a:p>
        </p:txBody>
      </p:sp>
      <p:grpSp>
        <p:nvGrpSpPr>
          <p:cNvPr id="13" name="Google Shape;49;p1">
            <a:extLst>
              <a:ext uri="{FF2B5EF4-FFF2-40B4-BE49-F238E27FC236}">
                <a16:creationId xmlns:a16="http://schemas.microsoft.com/office/drawing/2014/main" id="{6F972C35-6EF4-4CA0-9096-2705F850E6EC}"/>
              </a:ext>
            </a:extLst>
          </p:cNvPr>
          <p:cNvGrpSpPr/>
          <p:nvPr/>
        </p:nvGrpSpPr>
        <p:grpSpPr>
          <a:xfrm>
            <a:off x="5414536" y="5137008"/>
            <a:ext cx="1120735" cy="942791"/>
            <a:chOff x="-1" y="-1"/>
            <a:chExt cx="3026669" cy="3867914"/>
          </a:xfrm>
        </p:grpSpPr>
        <p:sp>
          <p:nvSpPr>
            <p:cNvPr id="15" name="Google Shape;50;p1">
              <a:extLst>
                <a:ext uri="{FF2B5EF4-FFF2-40B4-BE49-F238E27FC236}">
                  <a16:creationId xmlns:a16="http://schemas.microsoft.com/office/drawing/2014/main" id="{184B2562-C16E-4915-A0DD-FB489CE5535B}"/>
                </a:ext>
              </a:extLst>
            </p:cNvPr>
            <p:cNvSpPr/>
            <p:nvPr/>
          </p:nvSpPr>
          <p:spPr>
            <a:xfrm>
              <a:off x="-1" y="-1"/>
              <a:ext cx="3026669" cy="3867914"/>
            </a:xfrm>
            <a:prstGeom prst="rect">
              <a:avLst/>
            </a:prstGeom>
            <a:noFill/>
            <a:ln w="28575" cap="flat" cmpd="sng">
              <a:solidFill>
                <a:srgbClr val="203864"/>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203864"/>
                </a:buClr>
                <a:buSzPts val="1800"/>
                <a:buFont typeface="Calibri"/>
                <a:buNone/>
              </a:pPr>
              <a:endParaRPr sz="1800" b="0" i="0" u="none" strike="noStrike" cap="none" dirty="0">
                <a:solidFill>
                  <a:srgbClr val="203864"/>
                </a:solidFill>
                <a:latin typeface="Calibri"/>
                <a:ea typeface="Calibri"/>
                <a:cs typeface="Calibri"/>
                <a:sym typeface="Calibri"/>
              </a:endParaRPr>
            </a:p>
          </p:txBody>
        </p:sp>
        <p:sp>
          <p:nvSpPr>
            <p:cNvPr id="16" name="Google Shape;51;p1">
              <a:extLst>
                <a:ext uri="{FF2B5EF4-FFF2-40B4-BE49-F238E27FC236}">
                  <a16:creationId xmlns:a16="http://schemas.microsoft.com/office/drawing/2014/main" id="{7FA2CA81-B0A9-4957-B7EA-9E99854C7520}"/>
                </a:ext>
              </a:extLst>
            </p:cNvPr>
            <p:cNvSpPr txBox="1"/>
            <p:nvPr/>
          </p:nvSpPr>
          <p:spPr>
            <a:xfrm>
              <a:off x="60007" y="1176426"/>
              <a:ext cx="2906651" cy="1515061"/>
            </a:xfrm>
            <a:prstGeom prst="rect">
              <a:avLst/>
            </a:prstGeom>
            <a:no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203864"/>
                </a:buClr>
                <a:buSzPts val="1800"/>
                <a:buFont typeface="Calibri"/>
                <a:buNone/>
              </a:pPr>
              <a:r>
                <a:rPr lang="en-US" dirty="0">
                  <a:solidFill>
                    <a:srgbClr val="203864"/>
                  </a:solidFill>
                  <a:latin typeface="Calibri"/>
                  <a:ea typeface="Calibri"/>
                  <a:cs typeface="Calibri"/>
                  <a:sym typeface="Calibri"/>
                </a:rPr>
                <a:t>SDG </a:t>
              </a:r>
              <a:endParaRPr dirty="0"/>
            </a:p>
          </p:txBody>
        </p:sp>
      </p:grpSp>
      <p:grpSp>
        <p:nvGrpSpPr>
          <p:cNvPr id="17" name="Google Shape;49;p1">
            <a:extLst>
              <a:ext uri="{FF2B5EF4-FFF2-40B4-BE49-F238E27FC236}">
                <a16:creationId xmlns:a16="http://schemas.microsoft.com/office/drawing/2014/main" id="{D0A4025F-A1E4-47A2-97C5-49B124FB7537}"/>
              </a:ext>
            </a:extLst>
          </p:cNvPr>
          <p:cNvGrpSpPr/>
          <p:nvPr/>
        </p:nvGrpSpPr>
        <p:grpSpPr>
          <a:xfrm>
            <a:off x="6723383" y="5137008"/>
            <a:ext cx="1120735" cy="942791"/>
            <a:chOff x="-1" y="-1"/>
            <a:chExt cx="3026669" cy="3867914"/>
          </a:xfrm>
        </p:grpSpPr>
        <p:sp>
          <p:nvSpPr>
            <p:cNvPr id="18" name="Google Shape;50;p1">
              <a:extLst>
                <a:ext uri="{FF2B5EF4-FFF2-40B4-BE49-F238E27FC236}">
                  <a16:creationId xmlns:a16="http://schemas.microsoft.com/office/drawing/2014/main" id="{772D7AF6-6041-44A4-BC4E-498279DC3B70}"/>
                </a:ext>
              </a:extLst>
            </p:cNvPr>
            <p:cNvSpPr/>
            <p:nvPr/>
          </p:nvSpPr>
          <p:spPr>
            <a:xfrm>
              <a:off x="-1" y="-1"/>
              <a:ext cx="3026669" cy="3867914"/>
            </a:xfrm>
            <a:prstGeom prst="rect">
              <a:avLst/>
            </a:prstGeom>
            <a:noFill/>
            <a:ln w="28575" cap="flat" cmpd="sng">
              <a:solidFill>
                <a:srgbClr val="203864"/>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203864"/>
                </a:buClr>
                <a:buSzPts val="1800"/>
                <a:buFont typeface="Calibri"/>
                <a:buNone/>
              </a:pPr>
              <a:endParaRPr sz="1800" b="0" i="0" u="none" strike="noStrike" cap="none" dirty="0">
                <a:solidFill>
                  <a:srgbClr val="203864"/>
                </a:solidFill>
                <a:latin typeface="Calibri"/>
                <a:ea typeface="Calibri"/>
                <a:cs typeface="Calibri"/>
                <a:sym typeface="Calibri"/>
              </a:endParaRPr>
            </a:p>
          </p:txBody>
        </p:sp>
        <p:sp>
          <p:nvSpPr>
            <p:cNvPr id="19" name="Google Shape;51;p1">
              <a:extLst>
                <a:ext uri="{FF2B5EF4-FFF2-40B4-BE49-F238E27FC236}">
                  <a16:creationId xmlns:a16="http://schemas.microsoft.com/office/drawing/2014/main" id="{9BC0C7B1-8FC2-4B73-A2EB-0EE7B296F752}"/>
                </a:ext>
              </a:extLst>
            </p:cNvPr>
            <p:cNvSpPr txBox="1"/>
            <p:nvPr/>
          </p:nvSpPr>
          <p:spPr>
            <a:xfrm>
              <a:off x="60007" y="1176426"/>
              <a:ext cx="2906651" cy="1515061"/>
            </a:xfrm>
            <a:prstGeom prst="rect">
              <a:avLst/>
            </a:prstGeom>
            <a:no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203864"/>
                </a:buClr>
                <a:buSzPts val="1800"/>
                <a:buFont typeface="Calibri"/>
                <a:buNone/>
              </a:pPr>
              <a:r>
                <a:rPr lang="en-US" dirty="0">
                  <a:solidFill>
                    <a:srgbClr val="203864"/>
                  </a:solidFill>
                  <a:latin typeface="Calibri"/>
                  <a:ea typeface="Calibri"/>
                  <a:cs typeface="Calibri"/>
                  <a:sym typeface="Calibri"/>
                </a:rPr>
                <a:t>SDG</a:t>
              </a:r>
              <a:endParaRPr dirty="0"/>
            </a:p>
          </p:txBody>
        </p:sp>
      </p:grpSp>
      <p:grpSp>
        <p:nvGrpSpPr>
          <p:cNvPr id="20" name="Google Shape;49;p1">
            <a:extLst>
              <a:ext uri="{FF2B5EF4-FFF2-40B4-BE49-F238E27FC236}">
                <a16:creationId xmlns:a16="http://schemas.microsoft.com/office/drawing/2014/main" id="{A0817733-AC70-4F4A-AFCC-DC924049FA69}"/>
              </a:ext>
            </a:extLst>
          </p:cNvPr>
          <p:cNvGrpSpPr/>
          <p:nvPr/>
        </p:nvGrpSpPr>
        <p:grpSpPr>
          <a:xfrm>
            <a:off x="8032230" y="5137008"/>
            <a:ext cx="1120735" cy="942791"/>
            <a:chOff x="-1" y="-1"/>
            <a:chExt cx="3026669" cy="3867914"/>
          </a:xfrm>
        </p:grpSpPr>
        <p:sp>
          <p:nvSpPr>
            <p:cNvPr id="21" name="Google Shape;50;p1">
              <a:extLst>
                <a:ext uri="{FF2B5EF4-FFF2-40B4-BE49-F238E27FC236}">
                  <a16:creationId xmlns:a16="http://schemas.microsoft.com/office/drawing/2014/main" id="{67C2999A-C363-4F97-BA0A-2BA81C732160}"/>
                </a:ext>
              </a:extLst>
            </p:cNvPr>
            <p:cNvSpPr/>
            <p:nvPr/>
          </p:nvSpPr>
          <p:spPr>
            <a:xfrm>
              <a:off x="-1" y="-1"/>
              <a:ext cx="3026669" cy="3867914"/>
            </a:xfrm>
            <a:prstGeom prst="rect">
              <a:avLst/>
            </a:prstGeom>
            <a:noFill/>
            <a:ln w="28575" cap="flat" cmpd="sng">
              <a:solidFill>
                <a:srgbClr val="203864"/>
              </a:solidFill>
              <a:prstDash val="solid"/>
              <a:miter lim="800000"/>
              <a:headEnd type="none" w="sm" len="sm"/>
              <a:tailEnd type="none" w="sm" len="sm"/>
            </a:ln>
          </p:spPr>
          <p:txBody>
            <a:bodyPr spcFirstLastPara="1" wrap="square" lIns="45700" tIns="45700" rIns="45700" bIns="45700" anchor="ctr" anchorCtr="0">
              <a:noAutofit/>
            </a:bodyPr>
            <a:lstStyle/>
            <a:p>
              <a:pPr marL="0" marR="0" lvl="0" indent="0" algn="ctr" rtl="0">
                <a:lnSpc>
                  <a:spcPct val="100000"/>
                </a:lnSpc>
                <a:spcBef>
                  <a:spcPts val="0"/>
                </a:spcBef>
                <a:spcAft>
                  <a:spcPts val="0"/>
                </a:spcAft>
                <a:buClr>
                  <a:srgbClr val="203864"/>
                </a:buClr>
                <a:buSzPts val="1800"/>
                <a:buFont typeface="Calibri"/>
                <a:buNone/>
              </a:pPr>
              <a:endParaRPr sz="1800" b="0" i="0" u="none" strike="noStrike" cap="none" dirty="0">
                <a:solidFill>
                  <a:srgbClr val="203864"/>
                </a:solidFill>
                <a:latin typeface="Calibri"/>
                <a:ea typeface="Calibri"/>
                <a:cs typeface="Calibri"/>
                <a:sym typeface="Calibri"/>
              </a:endParaRPr>
            </a:p>
          </p:txBody>
        </p:sp>
        <p:sp>
          <p:nvSpPr>
            <p:cNvPr id="22" name="Google Shape;51;p1">
              <a:extLst>
                <a:ext uri="{FF2B5EF4-FFF2-40B4-BE49-F238E27FC236}">
                  <a16:creationId xmlns:a16="http://schemas.microsoft.com/office/drawing/2014/main" id="{02B48F6B-6E00-445A-912C-BFE454402DA7}"/>
                </a:ext>
              </a:extLst>
            </p:cNvPr>
            <p:cNvSpPr txBox="1"/>
            <p:nvPr/>
          </p:nvSpPr>
          <p:spPr>
            <a:xfrm>
              <a:off x="60007" y="1176426"/>
              <a:ext cx="2906651" cy="1515061"/>
            </a:xfrm>
            <a:prstGeom prst="rect">
              <a:avLst/>
            </a:prstGeom>
            <a:noFill/>
            <a:ln>
              <a:noFill/>
            </a:ln>
          </p:spPr>
          <p:txBody>
            <a:bodyPr spcFirstLastPara="1" wrap="square" lIns="45700" tIns="45700" rIns="45700" bIns="45700" anchor="ctr" anchorCtr="0">
              <a:spAutoFit/>
            </a:bodyPr>
            <a:lstStyle/>
            <a:p>
              <a:pPr marL="0" marR="0" lvl="0" indent="0" algn="ctr" rtl="0">
                <a:lnSpc>
                  <a:spcPct val="100000"/>
                </a:lnSpc>
                <a:spcBef>
                  <a:spcPts val="0"/>
                </a:spcBef>
                <a:spcAft>
                  <a:spcPts val="0"/>
                </a:spcAft>
                <a:buClr>
                  <a:srgbClr val="203864"/>
                </a:buClr>
                <a:buSzPts val="1800"/>
                <a:buFont typeface="Calibri"/>
                <a:buNone/>
              </a:pPr>
              <a:r>
                <a:rPr lang="en-US" dirty="0">
                  <a:solidFill>
                    <a:srgbClr val="203864"/>
                  </a:solidFill>
                  <a:latin typeface="Calibri"/>
                  <a:ea typeface="Calibri"/>
                  <a:cs typeface="Calibri"/>
                  <a:sym typeface="Calibri"/>
                </a:rPr>
                <a:t>SDG</a:t>
              </a:r>
              <a:endParaRPr dirty="0"/>
            </a:p>
          </p:txBody>
        </p:sp>
      </p:grpSp>
    </p:spTree>
    <p:extLst>
      <p:ext uri="{BB962C8B-B14F-4D97-AF65-F5344CB8AC3E}">
        <p14:creationId xmlns:p14="http://schemas.microsoft.com/office/powerpoint/2010/main" val="1611831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8" name="Picture 7">
            <a:extLst>
              <a:ext uri="{FF2B5EF4-FFF2-40B4-BE49-F238E27FC236}">
                <a16:creationId xmlns:a16="http://schemas.microsoft.com/office/drawing/2014/main" id="{2AE350DD-D573-4EE9-BF8C-F0072A51E0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9" name="Picture 8">
            <a:extLst>
              <a:ext uri="{FF2B5EF4-FFF2-40B4-BE49-F238E27FC236}">
                <a16:creationId xmlns:a16="http://schemas.microsoft.com/office/drawing/2014/main" id="{733A19B0-AF69-4D81-83FF-B6474C2A9F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23" name="TextBox 22">
            <a:extLst>
              <a:ext uri="{FF2B5EF4-FFF2-40B4-BE49-F238E27FC236}">
                <a16:creationId xmlns:a16="http://schemas.microsoft.com/office/drawing/2014/main" id="{81619078-CE57-4AD5-922B-C19723E0B3B1}"/>
              </a:ext>
            </a:extLst>
          </p:cNvPr>
          <p:cNvSpPr txBox="1"/>
          <p:nvPr/>
        </p:nvSpPr>
        <p:spPr>
          <a:xfrm>
            <a:off x="575292" y="1835261"/>
            <a:ext cx="9192962" cy="383823"/>
          </a:xfrm>
          <a:prstGeom prst="rect">
            <a:avLst/>
          </a:prstGeom>
          <a:noFill/>
        </p:spPr>
        <p:txBody>
          <a:bodyPr wrap="square">
            <a:spAutoFit/>
          </a:bodyPr>
          <a:lstStyle/>
          <a:p>
            <a:pPr marL="914400" lvl="1" algn="just">
              <a:lnSpc>
                <a:spcPct val="115000"/>
              </a:lnSpc>
            </a:pPr>
            <a:endPar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BF101B6B-FB9E-44D6-B787-8848E1897D40}"/>
              </a:ext>
            </a:extLst>
          </p:cNvPr>
          <p:cNvSpPr txBox="1"/>
          <p:nvPr/>
        </p:nvSpPr>
        <p:spPr>
          <a:xfrm>
            <a:off x="645631" y="1304762"/>
            <a:ext cx="6096000" cy="417871"/>
          </a:xfrm>
          <a:prstGeom prst="rect">
            <a:avLst/>
          </a:prstGeom>
          <a:noFill/>
        </p:spPr>
        <p:txBody>
          <a:bodyPr wrap="square">
            <a:spAutoFit/>
          </a:bodyPr>
          <a:lstStyle/>
          <a:p>
            <a:pPr marR="0" lvl="1">
              <a:lnSpc>
                <a:spcPct val="115000"/>
              </a:lnSpc>
              <a:spcBef>
                <a:spcPts val="0"/>
              </a:spcBef>
              <a:spcAft>
                <a:spcPts val="0"/>
              </a:spcAft>
            </a:pPr>
            <a:r>
              <a:rPr lang="mn-MN"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rPr>
              <a:t>Багийн танилцуулга</a:t>
            </a:r>
            <a:endParaRPr lang="en-US"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DDC217A-73C7-45D9-BD16-89B7EB77B2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5409" y="1835261"/>
            <a:ext cx="2039469" cy="2039469"/>
          </a:xfrm>
          <a:prstGeom prst="ellipse">
            <a:avLst/>
          </a:prstGeom>
          <a:ln>
            <a:noFill/>
          </a:ln>
          <a:effectLst>
            <a:softEdge rad="112500"/>
          </a:effectLst>
        </p:spPr>
      </p:pic>
      <p:pic>
        <p:nvPicPr>
          <p:cNvPr id="5" name="Picture 4">
            <a:extLst>
              <a:ext uri="{FF2B5EF4-FFF2-40B4-BE49-F238E27FC236}">
                <a16:creationId xmlns:a16="http://schemas.microsoft.com/office/drawing/2014/main" id="{0BF3B7AB-1EA4-4CC7-B964-8DBBC4C9672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2428" y="1839856"/>
            <a:ext cx="2200833" cy="2054750"/>
          </a:xfrm>
          <a:prstGeom prst="ellipse">
            <a:avLst/>
          </a:prstGeom>
          <a:ln>
            <a:noFill/>
          </a:ln>
          <a:effectLst>
            <a:softEdge rad="112500"/>
          </a:effectLst>
        </p:spPr>
      </p:pic>
      <p:pic>
        <p:nvPicPr>
          <p:cNvPr id="7" name="Picture 6">
            <a:extLst>
              <a:ext uri="{FF2B5EF4-FFF2-40B4-BE49-F238E27FC236}">
                <a16:creationId xmlns:a16="http://schemas.microsoft.com/office/drawing/2014/main" id="{56CDA199-54D3-4499-BB58-6D83197E14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90811" y="1776664"/>
            <a:ext cx="2200833" cy="2156661"/>
          </a:xfrm>
          <a:prstGeom prst="ellipse">
            <a:avLst/>
          </a:prstGeom>
          <a:ln>
            <a:noFill/>
          </a:ln>
          <a:effectLst>
            <a:softEdge rad="112500"/>
          </a:effectLst>
        </p:spPr>
      </p:pic>
      <p:pic>
        <p:nvPicPr>
          <p:cNvPr id="11" name="Picture 10">
            <a:extLst>
              <a:ext uri="{FF2B5EF4-FFF2-40B4-BE49-F238E27FC236}">
                <a16:creationId xmlns:a16="http://schemas.microsoft.com/office/drawing/2014/main" id="{8211D6C3-1116-44A0-886B-F15608D2AD1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15875" y="1835261"/>
            <a:ext cx="2200833" cy="2200833"/>
          </a:xfrm>
          <a:prstGeom prst="ellipse">
            <a:avLst/>
          </a:prstGeom>
          <a:ln>
            <a:noFill/>
          </a:ln>
          <a:effectLst>
            <a:softEdge rad="112500"/>
          </a:effectLst>
        </p:spPr>
      </p:pic>
    </p:spTree>
    <p:extLst>
      <p:ext uri="{BB962C8B-B14F-4D97-AF65-F5344CB8AC3E}">
        <p14:creationId xmlns:p14="http://schemas.microsoft.com/office/powerpoint/2010/main" val="551346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1BF8B082-08A3-404C-B1CC-C5214BEB6B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Picture 8">
            <a:extLst>
              <a:ext uri="{FF2B5EF4-FFF2-40B4-BE49-F238E27FC236}">
                <a16:creationId xmlns:a16="http://schemas.microsoft.com/office/drawing/2014/main" id="{6D5D2559-2F41-4B71-A2CB-E097275F96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4D32D613-7A31-45D4-A404-14B4598A2DC5}"/>
              </a:ext>
            </a:extLst>
          </p:cNvPr>
          <p:cNvSpPr txBox="1"/>
          <p:nvPr/>
        </p:nvSpPr>
        <p:spPr>
          <a:xfrm>
            <a:off x="1043281" y="1105302"/>
            <a:ext cx="9597824" cy="1833643"/>
          </a:xfrm>
          <a:prstGeom prst="rect">
            <a:avLst/>
          </a:prstGeom>
          <a:noFill/>
        </p:spPr>
        <p:txBody>
          <a:bodyPr wrap="square">
            <a:spAutoFit/>
          </a:bodyPr>
          <a:lstStyle/>
          <a:p>
            <a:pPr marL="457200" algn="just">
              <a:lnSpc>
                <a:spcPct val="115000"/>
              </a:lnSpc>
            </a:pPr>
            <a:r>
              <a:rPr lang="mn-MN" sz="2000" dirty="0">
                <a:latin typeface="Times New Roman" panose="02020603050405020304" pitchFamily="18" charset="0"/>
                <a:cs typeface="Times New Roman" panose="02020603050405020304" pitchFamily="18" charset="0"/>
              </a:rPr>
              <a:t>ДЦС болон гэр хорооллуудаас гарч буй нүүрсний үнсийг дэвшилтэт технологиор дахин боловсруулж, байгаль орчинд ээлтэй, өртөг багатай, дулаан тусгаарлалт сайтай барилгын материал болон дэд бүтцийн шийдэл үйлдвэрлэх замаар Улаанбаатар хотын агаарын бохирдол болон хөрсний доройтлыг бууруулахад хувь нэмэр оруулах.</a:t>
            </a:r>
            <a:endParaRPr lang="en-US" sz="2000" dirty="0">
              <a:solidFill>
                <a:srgbClr val="538135"/>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03E77B15-1E13-459A-B5E6-71B0675C0F00}"/>
              </a:ext>
            </a:extLst>
          </p:cNvPr>
          <p:cNvSpPr txBox="1"/>
          <p:nvPr/>
        </p:nvSpPr>
        <p:spPr>
          <a:xfrm>
            <a:off x="654423" y="632874"/>
            <a:ext cx="6096000" cy="417871"/>
          </a:xfrm>
          <a:prstGeom prst="rect">
            <a:avLst/>
          </a:prstGeom>
          <a:noFill/>
        </p:spPr>
        <p:txBody>
          <a:bodyPr wrap="square">
            <a:spAutoFit/>
          </a:bodyPr>
          <a:lstStyle/>
          <a:p>
            <a:pPr marR="0" lvl="1">
              <a:lnSpc>
                <a:spcPct val="115000"/>
              </a:lnSpc>
              <a:spcBef>
                <a:spcPts val="0"/>
              </a:spcBef>
              <a:spcAft>
                <a:spcPts val="0"/>
              </a:spcAft>
            </a:pPr>
            <a:r>
              <a:rPr lang="mn-MN" sz="2000" b="1"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Зорилго</a:t>
            </a:r>
            <a:r>
              <a:rPr lang="en-US" sz="2000" b="1"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1FFC514-4C67-4AD0-A282-2274D65F6047}"/>
              </a:ext>
            </a:extLst>
          </p:cNvPr>
          <p:cNvSpPr txBox="1"/>
          <p:nvPr/>
        </p:nvSpPr>
        <p:spPr>
          <a:xfrm>
            <a:off x="744070" y="3220064"/>
            <a:ext cx="6096000" cy="417871"/>
          </a:xfrm>
          <a:prstGeom prst="rect">
            <a:avLst/>
          </a:prstGeom>
          <a:noFill/>
        </p:spPr>
        <p:txBody>
          <a:bodyPr wrap="square">
            <a:spAutoFit/>
          </a:bodyPr>
          <a:lstStyle/>
          <a:p>
            <a:pPr marR="0" lvl="1">
              <a:lnSpc>
                <a:spcPct val="115000"/>
              </a:lnSpc>
              <a:spcBef>
                <a:spcPts val="0"/>
              </a:spcBef>
              <a:spcAft>
                <a:spcPts val="0"/>
              </a:spcAft>
            </a:pPr>
            <a:r>
              <a:rPr lang="mn-MN" sz="2000" b="1"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Зорилт</a:t>
            </a:r>
            <a:r>
              <a:rPr lang="en-US" sz="2000" b="1" dirty="0">
                <a:solidFill>
                  <a:srgbClr val="2F5496"/>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2000" b="1" dirty="0">
              <a:solidFill>
                <a:srgbClr val="2F5496"/>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4031D30-93F1-44C0-857C-D58622CF8295}"/>
              </a:ext>
            </a:extLst>
          </p:cNvPr>
          <p:cNvSpPr txBox="1"/>
          <p:nvPr/>
        </p:nvSpPr>
        <p:spPr>
          <a:xfrm>
            <a:off x="1043281" y="3717179"/>
            <a:ext cx="9597824" cy="2187587"/>
          </a:xfrm>
          <a:prstGeom prst="rect">
            <a:avLst/>
          </a:prstGeom>
          <a:noFill/>
        </p:spPr>
        <p:txBody>
          <a:bodyPr wrap="square">
            <a:spAutoFit/>
          </a:bodyPr>
          <a:lstStyle/>
          <a:p>
            <a:pPr marL="914400" indent="-457200" algn="just">
              <a:lnSpc>
                <a:spcPct val="115000"/>
              </a:lnSpc>
              <a:buFont typeface="+mj-lt"/>
              <a:buAutoNum type="arabicPeriod"/>
            </a:pPr>
            <a:r>
              <a:rPr lang="mn-MN" sz="2000" dirty="0">
                <a:latin typeface="Times New Roman" panose="02020603050405020304" pitchFamily="18" charset="0"/>
                <a:cs typeface="Times New Roman" panose="02020603050405020304" pitchFamily="18" charset="0"/>
              </a:rPr>
              <a:t>Үнсний хаягдлыг цуглуулж түүхий эдийн тогтвортой нөөц бүрдүүлэх.</a:t>
            </a:r>
            <a:endParaRPr lang="en-US" sz="2000" dirty="0">
              <a:latin typeface="Times New Roman" panose="02020603050405020304" pitchFamily="18" charset="0"/>
              <a:cs typeface="Times New Roman" panose="02020603050405020304" pitchFamily="18" charset="0"/>
            </a:endParaRPr>
          </a:p>
          <a:p>
            <a:pPr marL="914400" indent="-457200" algn="just">
              <a:lnSpc>
                <a:spcPct val="115000"/>
              </a:lnSpc>
              <a:buFont typeface="+mj-lt"/>
              <a:buAutoNum type="arabicPeriod"/>
            </a:pPr>
            <a:r>
              <a:rPr lang="mn-MN" sz="2000" dirty="0">
                <a:latin typeface="Times New Roman" panose="02020603050405020304" pitchFamily="18" charset="0"/>
                <a:cs typeface="Times New Roman" panose="02020603050405020304" pitchFamily="18" charset="0"/>
              </a:rPr>
              <a:t>Хаягдлыг зүгээр нэг устгах бус, өртөг шингэсэн эцсийн бүтээгдэхүүн болгон зах зээлд нийлүүлэх</a:t>
            </a:r>
            <a:endParaRPr lang="en-US" sz="2000" dirty="0">
              <a:latin typeface="Times New Roman" panose="02020603050405020304" pitchFamily="18" charset="0"/>
              <a:cs typeface="Times New Roman" panose="02020603050405020304" pitchFamily="18" charset="0"/>
            </a:endParaRPr>
          </a:p>
          <a:p>
            <a:pPr marL="914400" indent="-457200" algn="just">
              <a:lnSpc>
                <a:spcPct val="115000"/>
              </a:lnSpc>
              <a:buFont typeface="+mj-lt"/>
              <a:buAutoNum type="arabicPeriod"/>
            </a:pPr>
            <a:r>
              <a:rPr lang="mn-MN" sz="2000" dirty="0">
                <a:latin typeface="Times New Roman" panose="02020603050405020304" pitchFamily="18" charset="0"/>
                <a:cs typeface="Times New Roman" panose="02020603050405020304" pitchFamily="18" charset="0"/>
              </a:rPr>
              <a:t>Хаягдал боловсруулах дэлхийн шилдэг техник, тоног төхөөрөмжийг судалж, дотоодын үйлдвэрлэлд нутагшуулах.</a:t>
            </a:r>
          </a:p>
          <a:p>
            <a:pPr marL="914400" indent="-457200" algn="just">
              <a:lnSpc>
                <a:spcPct val="115000"/>
              </a:lnSpc>
              <a:buFont typeface="+mj-lt"/>
              <a:buAutoNum type="arabicPeriod"/>
            </a:pPr>
            <a:r>
              <a:rPr lang="mn-MN" sz="2000" dirty="0">
                <a:latin typeface="Times New Roman" panose="02020603050405020304" pitchFamily="18" charset="0"/>
                <a:cs typeface="Times New Roman" panose="02020603050405020304" pitchFamily="18" charset="0"/>
              </a:rPr>
              <a:t>Агаарын бохирдол болон хөрсний доройтлыг бууруулах.</a:t>
            </a:r>
          </a:p>
        </p:txBody>
      </p:sp>
    </p:spTree>
    <p:extLst>
      <p:ext uri="{BB962C8B-B14F-4D97-AF65-F5344CB8AC3E}">
        <p14:creationId xmlns:p14="http://schemas.microsoft.com/office/powerpoint/2010/main" val="2761141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322435C2-2D6B-4F6F-8415-F50E20C59F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93A569DD-3EE9-491A-A14A-DD32645F2F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FC484835-D7EC-49D4-928A-65DA5E920A3F}"/>
              </a:ext>
            </a:extLst>
          </p:cNvPr>
          <p:cNvSpPr txBox="1"/>
          <p:nvPr/>
        </p:nvSpPr>
        <p:spPr>
          <a:xfrm>
            <a:off x="856474" y="1284803"/>
            <a:ext cx="9036424" cy="3569310"/>
          </a:xfrm>
          <a:prstGeom prst="rect">
            <a:avLst/>
          </a:prstGeom>
          <a:noFill/>
        </p:spPr>
        <p:txBody>
          <a:bodyPr wrap="square">
            <a:spAutoFit/>
          </a:bodyPr>
          <a:lstStyle/>
          <a:p>
            <a:pPr marR="0" lvl="1">
              <a:lnSpc>
                <a:spcPct val="115000"/>
              </a:lnSpc>
              <a:spcBef>
                <a:spcPts val="0"/>
              </a:spcBef>
              <a:spcAft>
                <a:spcPts val="0"/>
              </a:spcAft>
            </a:pPr>
            <a:r>
              <a:rPr lang="mn-MN" b="1" dirty="0">
                <a:solidFill>
                  <a:srgbClr val="2F5496"/>
                </a:solidFill>
                <a:effectLst/>
                <a:latin typeface="Arial" panose="020B0604020202020204" pitchFamily="34" charset="0"/>
                <a:ea typeface="Times New Roman" panose="02020603050405020304" pitchFamily="18" charset="0"/>
                <a:cs typeface="Arial" panose="020B0604020202020204" pitchFamily="34" charset="0"/>
              </a:rPr>
              <a:t>Асуудал (Одоогийн нөхцөл байдал)</a:t>
            </a:r>
            <a:endParaRPr lang="en-US" b="1" dirty="0">
              <a:solidFill>
                <a:srgbClr val="2F5496"/>
              </a:solidFill>
              <a:effectLst/>
              <a:latin typeface="Arial" panose="020B0604020202020204" pitchFamily="34" charset="0"/>
              <a:ea typeface="Times New Roman" panose="02020603050405020304" pitchFamily="18" charset="0"/>
              <a:cs typeface="Arial" panose="020B0604020202020204" pitchFamily="34" charset="0"/>
            </a:endParaRPr>
          </a:p>
          <a:p>
            <a:pPr marR="0" lvl="1">
              <a:lnSpc>
                <a:spcPct val="115000"/>
              </a:lnSpc>
              <a:spcBef>
                <a:spcPts val="0"/>
              </a:spcBef>
              <a:spcAft>
                <a:spcPts val="0"/>
              </a:spcAft>
            </a:pPr>
            <a:endParaRPr lang="mn-MN" b="1"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971550" lvl="1" algn="just">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Энэ хэсэгт салбарын өнөөгийн нөхцөл байдал, тулгарч буй гол бэрхшээлүүдийг тодорхойлж, тэдгээрийг шийдвэрлэхэд чиглэсэн төслийн үндсэн зорилго, хэрэгжүүлэх арга замуудыг дэлгэрэнгүй тусгаж өгнө</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a:t>
            </a:r>
          </a:p>
          <a:p>
            <a:pPr marL="971550" lvl="1">
              <a:lnSpc>
                <a:spcPct val="115000"/>
              </a:lnSpc>
            </a:pPr>
            <a:endPar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a:p>
            <a:pPr marL="971550" lvl="1">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ЖШ: </a:t>
            </a:r>
          </a:p>
          <a:p>
            <a:pPr marL="1257300" lvl="1" indent="-285750" algn="just">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Одоогийн үр ашиггүй байдал эсвэл зах зээлийн хоосон орон зай.</a:t>
            </a:r>
          </a:p>
          <a:p>
            <a:pPr marL="1257300" lvl="1" indent="-285750" algn="just">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"Үйлдэл хийхгүй байхын өртөг": Хэрэв энэ асуудлыг шийдэхгүй бол юу болох вэ?</a:t>
            </a:r>
          </a:p>
          <a:p>
            <a:pPr marL="1257300" lvl="1" indent="-285750" algn="just">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Оролцогч талуудад тулгарч буй тодорхой бэрхшээлүүд (</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Pain points)</a:t>
            </a:r>
            <a:endPar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8687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320605" y="88346"/>
            <a:ext cx="10394802" cy="5168531"/>
          </a:xfrm>
          <a:prstGeom prst="rect">
            <a:avLst/>
          </a:prstGeom>
          <a:noFill/>
        </p:spPr>
        <p:txBody>
          <a:bodyPr wrap="square">
            <a:spAutoFit/>
          </a:bodyPr>
          <a:lstStyle/>
          <a:p>
            <a:pPr marR="0" lvl="1">
              <a:lnSpc>
                <a:spcPct val="115000"/>
              </a:lnSpc>
              <a:spcBef>
                <a:spcPts val="0"/>
              </a:spcBef>
              <a:spcAft>
                <a:spcPts val="0"/>
              </a:spcAft>
            </a:pPr>
            <a:r>
              <a:rPr lang="mn-MN" b="1"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rPr>
              <a:t>Шинэ шийдэл</a:t>
            </a:r>
          </a:p>
          <a:p>
            <a:pPr marR="0" lvl="1">
              <a:lnSpc>
                <a:spcPct val="115000"/>
              </a:lnSpc>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971550" lvl="1">
              <a:lnSpc>
                <a:spcPct val="115000"/>
              </a:lnSpc>
            </a:pPr>
            <a:r>
              <a:rPr lang="mn-MN" b="0" i="0" dirty="0">
                <a:solidFill>
                  <a:srgbClr val="000000"/>
                </a:solidFill>
                <a:effectLst/>
                <a:latin typeface="Segoe UI Historic" panose="020B0502040204020203" pitchFamily="34" charset="0"/>
              </a:rPr>
              <a:t>"Чин сэтгэлээсээ, гайхалтай шашин, дээд зэргийн чанар нь бизнесийн хөгжлийн үндэс" гэсэн зарчмын дагуу удирдлагын арга барилыг тууштай сайжруулахын тулд бид холбогдох барааны мөн чанарыг олон улсын хэмжээнд өргөнөөр шингээж, худалдан авагчдын хэрэгцээг хангахын тулд байнга шинэ бараа олж авдаг.Бетон тэлэлтийн үе дүүргэгч,Давирхай дүүргэгч,Будгийн нэмэлт, Бидэнд итгэ, тэгвэл та илүү ихийг олж авах болно. Нэмэлт мэдээлэл авахыг хүсвэл бидэнтэй холбоо барина уу, бид танд үргэлж анхаарал хандуулж байх болно гэдэгт итгэлтэй б</a:t>
            </a:r>
            <a:r>
              <a:rPr lang="mn-MN" dirty="0">
                <a:solidFill>
                  <a:srgbClr val="000000"/>
                </a:solidFill>
                <a:latin typeface="Segoe UI Historic" panose="020B0502040204020203" pitchFamily="34" charset="0"/>
              </a:rPr>
              <a:t>айна</a:t>
            </a:r>
            <a:r>
              <a:rPr lang="en-US" dirty="0">
                <a:solidFill>
                  <a:srgbClr val="000000"/>
                </a:solidFill>
                <a:latin typeface="Segoe UI Historic" panose="020B0502040204020203" pitchFamily="34" charset="0"/>
              </a:rPr>
              <a:t>. </a:t>
            </a:r>
            <a:r>
              <a:rPr lang="mn-MN" b="0" i="0" dirty="0">
                <a:solidFill>
                  <a:srgbClr val="000000"/>
                </a:solidFill>
                <a:effectLst/>
                <a:latin typeface="Segoe UI Historic" panose="020B0502040204020203" pitchFamily="34" charset="0"/>
              </a:rPr>
              <a:t>Хятад </a:t>
            </a:r>
            <a:r>
              <a:rPr lang="en-US" b="0" i="0" dirty="0">
                <a:solidFill>
                  <a:srgbClr val="000000"/>
                </a:solidFill>
                <a:effectLst/>
                <a:latin typeface="Segoe UI Historic" panose="020B0502040204020203" pitchFamily="34" charset="0"/>
              </a:rPr>
              <a:t>OEM </a:t>
            </a:r>
            <a:r>
              <a:rPr lang="mn-MN" b="0" i="0" dirty="0">
                <a:solidFill>
                  <a:srgbClr val="000000"/>
                </a:solidFill>
                <a:effectLst/>
                <a:latin typeface="Segoe UI Historic" panose="020B0502040204020203" pitchFamily="34" charset="0"/>
              </a:rPr>
              <a:t>үнсэн тоосго - Цементийн түүхий эдэд зориулсан үнс, Бетон хольцод зориулсан үнс нүүрс - </a:t>
            </a:r>
            <a:r>
              <a:rPr lang="en-US" b="0" i="0" dirty="0" err="1">
                <a:solidFill>
                  <a:srgbClr val="000000"/>
                </a:solidFill>
                <a:effectLst/>
                <a:latin typeface="Segoe UI Historic" panose="020B0502040204020203" pitchFamily="34" charset="0"/>
              </a:rPr>
              <a:t>Kehui</a:t>
            </a:r>
            <a:r>
              <a:rPr lang="en-US" b="0" i="0" dirty="0">
                <a:solidFill>
                  <a:srgbClr val="000000"/>
                </a:solidFill>
                <a:effectLst/>
                <a:latin typeface="Segoe UI Historic" panose="020B0502040204020203" pitchFamily="34" charset="0"/>
              </a:rPr>
              <a:t> </a:t>
            </a:r>
            <a:r>
              <a:rPr lang="mn-MN" b="0" i="0" dirty="0">
                <a:solidFill>
                  <a:srgbClr val="000000"/>
                </a:solidFill>
                <a:effectLst/>
                <a:latin typeface="Segoe UI Historic" panose="020B0502040204020203" pitchFamily="34" charset="0"/>
              </a:rPr>
              <a:t>Дэлгэрэнгүй: Үнс нь цахилгаан станцуудад нунтаг нүүрсийг шатаахад гардаг нарийн ширхэгтэй нунтаг юм. Үнс гэдэг нь пуццолан бөгөөд устай орчинд цемент үүсгэдэг хөнгөн цагаан, цахиурлаг бодис агуулсан бодис юм. Шохой, устай холилдсон үнс нь портланд цементтэй төстэй нэгдэл үүсгэдэг. Энэ нь үнсийг холимог цемент, мозайк хавтан, хөндий блок зэрэг барилгын материалын үндсэн материал болгон ашиглахад тохиромжтой болгодог. Бетоны хольцод хэрэглэхэд үнс нь бетоны бат бэх, тусгаарлалтыг сайжруулж, шахахад хялбар болгодог.</a:t>
            </a:r>
            <a:endPar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79036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381837" y="352728"/>
            <a:ext cx="10394802" cy="5487080"/>
          </a:xfrm>
          <a:prstGeom prst="rect">
            <a:avLst/>
          </a:prstGeom>
          <a:noFill/>
        </p:spPr>
        <p:txBody>
          <a:bodyPr wrap="square">
            <a:spAutoFit/>
          </a:bodyPr>
          <a:lstStyle/>
          <a:p>
            <a:pPr marR="0" lvl="1">
              <a:lnSpc>
                <a:spcPct val="115000"/>
              </a:lnSpc>
              <a:spcBef>
                <a:spcPts val="0"/>
              </a:spcBef>
              <a:spcAft>
                <a:spcPts val="0"/>
              </a:spcAft>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p>
          <a:p>
            <a:pPr marL="971550" lvl="1">
              <a:lnSpc>
                <a:spcPct val="115000"/>
              </a:lnSpc>
            </a:pPr>
            <a:r>
              <a:rPr lang="mn-MN" b="0" i="0" dirty="0">
                <a:solidFill>
                  <a:srgbClr val="000000"/>
                </a:solidFill>
                <a:effectLst/>
                <a:latin typeface="Times New Roman" panose="02020603050405020304" pitchFamily="18" charset="0"/>
                <a:cs typeface="Times New Roman" panose="02020603050405020304" pitchFamily="18" charset="0"/>
              </a:rPr>
              <a:t>Үнсийг цутгамал бетон, бетон блок, тоосго зэрэг цементэн суурьтай олон бүтээгдэхүүнд үндсэн материал болгон ашиглаж болно. Бетон дээр үнс нэмэх нь цемент, нарийн дүүргэгчийг их хэмжээгээр хэмнэж, усны зарцуулалтыг бууруулдаг; бетоны хольцын ажиллах чадварыг сайжруулдаг; бетоны шахах чадварыг нэмэгдүүлдэг; бетоны гулзайлтыг бууруулдаг; Усжилт ба дулааны тэлэлтийн дулаан; бетоны ус үл нэвтрэх чанарыг сайжруулах; бетоны өөрчлөлтийг нэмэгдүүлэх. Мөн бид </a:t>
            </a:r>
            <a:r>
              <a:rPr lang="en-US" b="0" i="0" dirty="0">
                <a:solidFill>
                  <a:srgbClr val="000000"/>
                </a:solidFill>
                <a:effectLst/>
                <a:latin typeface="Times New Roman" panose="02020603050405020304" pitchFamily="18" charset="0"/>
                <a:cs typeface="Times New Roman" panose="02020603050405020304" pitchFamily="18" charset="0"/>
              </a:rPr>
              <a:t>C </a:t>
            </a:r>
            <a:r>
              <a:rPr lang="mn-MN" b="0" i="0" dirty="0">
                <a:solidFill>
                  <a:srgbClr val="000000"/>
                </a:solidFill>
                <a:effectLst/>
                <a:latin typeface="Times New Roman" panose="02020603050405020304" pitchFamily="18" charset="0"/>
                <a:cs typeface="Times New Roman" panose="02020603050405020304" pitchFamily="18" charset="0"/>
              </a:rPr>
              <a:t>ангиллын </a:t>
            </a:r>
            <a:r>
              <a:rPr lang="en-US" b="0" i="0" dirty="0">
                <a:solidFill>
                  <a:srgbClr val="000000"/>
                </a:solidFill>
                <a:effectLst/>
                <a:latin typeface="Times New Roman" panose="02020603050405020304" pitchFamily="18" charset="0"/>
                <a:cs typeface="Times New Roman" panose="02020603050405020304" pitchFamily="18" charset="0"/>
              </a:rPr>
              <a:t>Fly Ash-</a:t>
            </a:r>
            <a:r>
              <a:rPr lang="mn-MN" b="0" i="0" dirty="0">
                <a:solidFill>
                  <a:srgbClr val="000000"/>
                </a:solidFill>
                <a:effectLst/>
                <a:latin typeface="Times New Roman" panose="02020603050405020304" pitchFamily="18" charset="0"/>
                <a:cs typeface="Times New Roman" panose="02020603050405020304" pitchFamily="18" charset="0"/>
              </a:rPr>
              <a:t>ийг санал болгож болно, энэ нь өвөрмөц өөрөө хатуурдаг шинж чанартай бөгөөд нэвчилтийг бууруулдаг. Урьдчилан хүчитгэсэн бетон болон бусад хэрэглээнд өндөр бат бэх шаардлагатай үед ялангуяа ашигтай. Мөн хөрсийг тогтворжуулахад тустай. </a:t>
            </a:r>
            <a:r>
              <a:rPr lang="en-US" b="0" i="0" dirty="0" err="1">
                <a:solidFill>
                  <a:srgbClr val="000000"/>
                </a:solidFill>
                <a:effectLst/>
                <a:latin typeface="Times New Roman" panose="02020603050405020304" pitchFamily="18" charset="0"/>
                <a:cs typeface="Times New Roman" panose="02020603050405020304" pitchFamily="18" charset="0"/>
              </a:rPr>
              <a:t>Xingtai</a:t>
            </a:r>
            <a:r>
              <a:rPr lang="en-US" b="0" i="0" dirty="0">
                <a:solidFill>
                  <a:srgbClr val="000000"/>
                </a:solidFill>
                <a:effectLst/>
                <a:latin typeface="Times New Roman" panose="02020603050405020304" pitchFamily="18" charset="0"/>
                <a:cs typeface="Times New Roman" panose="02020603050405020304" pitchFamily="18" charset="0"/>
              </a:rPr>
              <a:t> </a:t>
            </a:r>
            <a:r>
              <a:rPr lang="en-US" b="0" i="0" dirty="0" err="1">
                <a:solidFill>
                  <a:srgbClr val="000000"/>
                </a:solidFill>
                <a:effectLst/>
                <a:latin typeface="Times New Roman" panose="02020603050405020304" pitchFamily="18" charset="0"/>
                <a:cs typeface="Times New Roman" panose="02020603050405020304" pitchFamily="18" charset="0"/>
              </a:rPr>
              <a:t>Kehui</a:t>
            </a:r>
            <a:r>
              <a:rPr lang="en-US" b="0" i="0" dirty="0">
                <a:solidFill>
                  <a:srgbClr val="000000"/>
                </a:solidFill>
                <a:effectLst/>
                <a:latin typeface="Times New Roman" panose="02020603050405020304" pitchFamily="18" charset="0"/>
                <a:cs typeface="Times New Roman" panose="02020603050405020304" pitchFamily="18" charset="0"/>
              </a:rPr>
              <a:t> Trading Co., Ltd </a:t>
            </a:r>
            <a:r>
              <a:rPr lang="mn-MN" b="0" i="0" dirty="0">
                <a:solidFill>
                  <a:srgbClr val="000000"/>
                </a:solidFill>
                <a:effectLst/>
                <a:latin typeface="Times New Roman" panose="02020603050405020304" pitchFamily="18" charset="0"/>
                <a:cs typeface="Times New Roman" panose="02020603050405020304" pitchFamily="18" charset="0"/>
              </a:rPr>
              <a:t>нь үйлдвэрлэл, борлуулалт, худалдан авалтыг нэгтгэсэн иж бүрэн компани юм. Тус компани болон үйлдвэр нь эртний түүхтэй, ашигт малтмалаар баялаг Хэбэй мужийн Шинтай хотод байрладаг. Одоогоор тус компанийн бүтээгдэхүүнд үнс, ценосфер, перлит, хөндий шилэн микросфер, макро синтетик эслэг гэх мэт бүтээгдэхүүнүүд багтаж байгаа бөгөөд бүтээгдэхүүний хэрэглээ нь галд тэсвэртэй дулаалгын материал, барилгын материал, нефтийн үйлдвэр, дулаалгын материал, бүрэх үйлдвэрлэл, сансар огторгуйн хөгжил, хуванцар үйлдвэрлэл, шилэн эслэгээр бэхжүүлсэн хуванцар материал, сав баглаа боодол зэрэгт зориулагдсан. </a:t>
            </a:r>
            <a:endParaRPr lang="en-US" dirty="0">
              <a:solidFill>
                <a:srgbClr val="538135"/>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49027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381837" y="352728"/>
            <a:ext cx="11420522" cy="5805628"/>
          </a:xfrm>
          <a:prstGeom prst="rect">
            <a:avLst/>
          </a:prstGeom>
          <a:noFill/>
        </p:spPr>
        <p:txBody>
          <a:bodyPr wrap="square">
            <a:spAutoFit/>
          </a:bodyPr>
          <a:lstStyle/>
          <a:p>
            <a:pPr marR="0" lvl="1">
              <a:lnSpc>
                <a:spcPct val="115000"/>
              </a:lnSpc>
              <a:spcBef>
                <a:spcPts val="0"/>
              </a:spcBef>
              <a:spcAft>
                <a:spcPts val="0"/>
              </a:spcAft>
            </a:pPr>
            <a:r>
              <a:rPr lang="mn-MN" b="0" i="0" dirty="0">
                <a:solidFill>
                  <a:srgbClr val="000000"/>
                </a:solidFill>
                <a:effectLst/>
                <a:latin typeface="Times New Roman" panose="02020603050405020304" pitchFamily="18" charset="0"/>
                <a:cs typeface="Times New Roman" panose="02020603050405020304" pitchFamily="18" charset="0"/>
              </a:rPr>
              <a:t>Бид галд тэсвэртэй материал, дулаан тусгаарлагч материал үйлдвэрлэсэн 28 жилийн туршлагатай, өндөр чанартай галд тэсвэртэй материал, чанартай дулаан тусгаарлагч материалыг нийлүүлэхийг эрмэлздэг бөгөөд макро синтетик эслэг, бусад олон төрлийн чанартай бүтээгдэхүүнийг боловсруулсан. ус багасгах хольц, бид хэрэглэгчдийн янз бүрийн шаардлагыг хангахын тулд чадах бүхнээ хийж байна. Бид үйлчлүүлэгчдээ өндөр чанартай бүтээгдэхүүн, мэргэжлийн үйлчилгээгээр үргэлжлүүлэн дагалдан явах болно гэдэгт найдаж байна! Үйлчлүүлэгч шаардлагатай бол бид хэзээ ч энд байна! Бүтээгдэхүүний дэлгэрэнгүй зураг: Хятад </a:t>
            </a:r>
            <a:r>
              <a:rPr lang="en-US" b="0" i="0" dirty="0">
                <a:solidFill>
                  <a:srgbClr val="000000"/>
                </a:solidFill>
                <a:effectLst/>
                <a:latin typeface="Times New Roman" panose="02020603050405020304" pitchFamily="18" charset="0"/>
                <a:cs typeface="Times New Roman" panose="02020603050405020304" pitchFamily="18" charset="0"/>
              </a:rPr>
              <a:t>OEM </a:t>
            </a:r>
            <a:r>
              <a:rPr lang="mn-MN" b="0" i="0" dirty="0">
                <a:solidFill>
                  <a:srgbClr val="000000"/>
                </a:solidFill>
                <a:effectLst/>
                <a:latin typeface="Times New Roman" panose="02020603050405020304" pitchFamily="18" charset="0"/>
                <a:cs typeface="Times New Roman" panose="02020603050405020304" pitchFamily="18" charset="0"/>
              </a:rPr>
              <a:t>үнсэн тоосго - Цементийн түүхий эдэд зориулсан үнс Бетон хольцод зориулсан үнс нүүрс – </a:t>
            </a:r>
            <a:r>
              <a:rPr lang="en-US" b="0" i="0" dirty="0" err="1">
                <a:solidFill>
                  <a:srgbClr val="000000"/>
                </a:solidFill>
                <a:effectLst/>
                <a:latin typeface="Times New Roman" panose="02020603050405020304" pitchFamily="18" charset="0"/>
                <a:cs typeface="Times New Roman" panose="02020603050405020304" pitchFamily="18" charset="0"/>
              </a:rPr>
              <a:t>Kehui</a:t>
            </a:r>
            <a:r>
              <a:rPr lang="en-US" b="0" i="0" dirty="0">
                <a:solidFill>
                  <a:srgbClr val="000000"/>
                </a:solidFill>
                <a:effectLst/>
                <a:latin typeface="Times New Roman" panose="02020603050405020304" pitchFamily="18" charset="0"/>
                <a:cs typeface="Times New Roman" panose="02020603050405020304" pitchFamily="18" charset="0"/>
              </a:rPr>
              <a:t> </a:t>
            </a:r>
            <a:r>
              <a:rPr lang="mn-MN" b="0" i="0" dirty="0">
                <a:solidFill>
                  <a:srgbClr val="000000"/>
                </a:solidFill>
                <a:effectLst/>
                <a:latin typeface="Times New Roman" panose="02020603050405020304" pitchFamily="18" charset="0"/>
                <a:cs typeface="Times New Roman" panose="02020603050405020304" pitchFamily="18" charset="0"/>
              </a:rPr>
              <a:t>дэлгэрэнгүй зураг Хятад </a:t>
            </a:r>
            <a:r>
              <a:rPr lang="en-US" b="0" i="0" dirty="0">
                <a:solidFill>
                  <a:srgbClr val="000000"/>
                </a:solidFill>
                <a:effectLst/>
                <a:latin typeface="Times New Roman" panose="02020603050405020304" pitchFamily="18" charset="0"/>
                <a:cs typeface="Times New Roman" panose="02020603050405020304" pitchFamily="18" charset="0"/>
              </a:rPr>
              <a:t>OEM </a:t>
            </a:r>
            <a:r>
              <a:rPr lang="mn-MN" b="0" i="0" dirty="0">
                <a:solidFill>
                  <a:srgbClr val="000000"/>
                </a:solidFill>
                <a:effectLst/>
                <a:latin typeface="Times New Roman" panose="02020603050405020304" pitchFamily="18" charset="0"/>
                <a:cs typeface="Times New Roman" panose="02020603050405020304" pitchFamily="18" charset="0"/>
              </a:rPr>
              <a:t>үнсэн тоосго - Цементийн түүхий эдэд зориулсан үнс Бетон хольцод зориулсан үнс нүүрс – </a:t>
            </a:r>
            <a:r>
              <a:rPr lang="en-US" b="0" i="0" dirty="0" err="1">
                <a:solidFill>
                  <a:srgbClr val="000000"/>
                </a:solidFill>
                <a:effectLst/>
                <a:latin typeface="Times New Roman" panose="02020603050405020304" pitchFamily="18" charset="0"/>
                <a:cs typeface="Times New Roman" panose="02020603050405020304" pitchFamily="18" charset="0"/>
              </a:rPr>
              <a:t>Kehui</a:t>
            </a:r>
            <a:r>
              <a:rPr lang="en-US" b="0" i="0" dirty="0">
                <a:solidFill>
                  <a:srgbClr val="000000"/>
                </a:solidFill>
                <a:effectLst/>
                <a:latin typeface="Times New Roman" panose="02020603050405020304" pitchFamily="18" charset="0"/>
                <a:cs typeface="Times New Roman" panose="02020603050405020304" pitchFamily="18" charset="0"/>
              </a:rPr>
              <a:t> </a:t>
            </a:r>
            <a:r>
              <a:rPr lang="mn-MN" b="0" i="0" dirty="0">
                <a:solidFill>
                  <a:srgbClr val="000000"/>
                </a:solidFill>
                <a:effectLst/>
                <a:latin typeface="Times New Roman" panose="02020603050405020304" pitchFamily="18" charset="0"/>
                <a:cs typeface="Times New Roman" panose="02020603050405020304" pitchFamily="18" charset="0"/>
              </a:rPr>
              <a:t>дэлгэрэнгүй зураг Холбогдох бүтээгдэхүүний гарын авлага: Гайхамшигтай менежмент, хүчирхэг техникийн чадавхи, нарийн чанд бариулын журмаар бид үйлчлүүлэгчдээ нэр хүндтэй дээд чанар, боломжийн борлуулалтын үнэ, гайхалтай үйлчилгээ үзүүлэгчээр үргэлжлүүлэн хангасаар байна. </a:t>
            </a:r>
            <a:r>
              <a:rPr lang="en-US" b="0" i="0" dirty="0">
                <a:solidFill>
                  <a:srgbClr val="000000"/>
                </a:solidFill>
                <a:effectLst/>
                <a:latin typeface="Times New Roman" panose="02020603050405020304" pitchFamily="18" charset="0"/>
                <a:cs typeface="Times New Roman" panose="02020603050405020304" pitchFamily="18" charset="0"/>
              </a:rPr>
              <a:t>We purpose at becoming between your most trusty partners and earning your </a:t>
            </a:r>
            <a:r>
              <a:rPr lang="en-US" b="0" i="0" dirty="0" err="1">
                <a:solidFill>
                  <a:srgbClr val="000000"/>
                </a:solidFill>
                <a:effectLst/>
                <a:latin typeface="Times New Roman" panose="02020603050405020304" pitchFamily="18" charset="0"/>
                <a:cs typeface="Times New Roman" panose="02020603050405020304" pitchFamily="18" charset="0"/>
              </a:rPr>
              <a:t>stisfaction</a:t>
            </a:r>
            <a:r>
              <a:rPr lang="en-US" b="0" i="0" dirty="0">
                <a:solidFill>
                  <a:srgbClr val="000000"/>
                </a:solidFill>
                <a:effectLst/>
                <a:latin typeface="Times New Roman" panose="02020603050405020304" pitchFamily="18" charset="0"/>
                <a:cs typeface="Times New Roman" panose="02020603050405020304" pitchFamily="18" charset="0"/>
              </a:rPr>
              <a:t> for China OEM Fly Ash Bricks - Fly Ash for Cement </a:t>
            </a:r>
            <a:r>
              <a:rPr lang="mn-MN" b="0" i="0" dirty="0">
                <a:solidFill>
                  <a:srgbClr val="000000"/>
                </a:solidFill>
                <a:effectLst/>
                <a:latin typeface="Times New Roman" panose="02020603050405020304" pitchFamily="18" charset="0"/>
                <a:cs typeface="Times New Roman" panose="02020603050405020304" pitchFamily="18" charset="0"/>
              </a:rPr>
              <a:t>түүхий эд, </a:t>
            </a:r>
            <a:r>
              <a:rPr lang="en-US" b="0" i="0" dirty="0">
                <a:solidFill>
                  <a:srgbClr val="000000"/>
                </a:solidFill>
                <a:effectLst/>
                <a:latin typeface="Times New Roman" panose="02020603050405020304" pitchFamily="18" charset="0"/>
                <a:cs typeface="Times New Roman" panose="02020603050405020304" pitchFamily="18" charset="0"/>
              </a:rPr>
              <a:t>Coal Fly Ash for </a:t>
            </a:r>
            <a:r>
              <a:rPr lang="mn-MN" b="0" i="0" dirty="0">
                <a:solidFill>
                  <a:srgbClr val="000000"/>
                </a:solidFill>
                <a:effectLst/>
                <a:latin typeface="Times New Roman" panose="02020603050405020304" pitchFamily="18" charset="0"/>
                <a:cs typeface="Times New Roman" panose="02020603050405020304" pitchFamily="18" charset="0"/>
              </a:rPr>
              <a:t>Бетон хольц – </a:t>
            </a:r>
            <a:r>
              <a:rPr lang="en-US" b="0" i="0" dirty="0" err="1">
                <a:solidFill>
                  <a:srgbClr val="000000"/>
                </a:solidFill>
                <a:effectLst/>
                <a:latin typeface="Times New Roman" panose="02020603050405020304" pitchFamily="18" charset="0"/>
                <a:cs typeface="Times New Roman" panose="02020603050405020304" pitchFamily="18" charset="0"/>
              </a:rPr>
              <a:t>Kehui</a:t>
            </a:r>
            <a:r>
              <a:rPr lang="en-US" b="0" i="0" dirty="0">
                <a:solidFill>
                  <a:srgbClr val="000000"/>
                </a:solidFill>
                <a:effectLst/>
                <a:latin typeface="Times New Roman" panose="02020603050405020304" pitchFamily="18" charset="0"/>
                <a:cs typeface="Times New Roman" panose="02020603050405020304" pitchFamily="18" charset="0"/>
              </a:rPr>
              <a:t> , </a:t>
            </a:r>
            <a:r>
              <a:rPr lang="mn-MN" b="0" i="0" dirty="0">
                <a:solidFill>
                  <a:srgbClr val="000000"/>
                </a:solidFill>
                <a:effectLst/>
                <a:latin typeface="Times New Roman" panose="02020603050405020304" pitchFamily="18" charset="0"/>
                <a:cs typeface="Times New Roman" panose="02020603050405020304" pitchFamily="18" charset="0"/>
              </a:rPr>
              <a:t>Бүтээгдэхүүн нь Мексик, Бангкок, Рио-де-Жанейро зэрэг дэлхийн өнцөг булан бүрт нийлүүлэгдэх болно. борлуулалтын өмнөх болон борлуулалтын дараах шилдэг үйлчилгээ. Дэлхийн ханган нийлүүлэгчид болон үйлчлүүлэгчдийн хоорондын ихэнх асуудал нь харилцаа холбоо муутай холбоотой байдаг. Соёлын хувьд ханган нийлүүлэгчид ойлгохгүй байгаа зүйлээ асуухаас татгалзаж болно. Хүссэн зүйлээ хүссэн үедээ, хүссэн түвшиндээ хүргэхийн тулд бид эдгээр саад бэрхшээлийг эвддэг.</a:t>
            </a:r>
            <a:endParaRPr lang="en-US" dirty="0">
              <a:solidFill>
                <a:srgbClr val="538135"/>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97496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381837" y="352728"/>
            <a:ext cx="11420522" cy="385362"/>
          </a:xfrm>
          <a:prstGeom prst="rect">
            <a:avLst/>
          </a:prstGeom>
          <a:noFill/>
        </p:spPr>
        <p:txBody>
          <a:bodyPr wrap="square">
            <a:spAutoFit/>
          </a:bodyPr>
          <a:lstStyle/>
          <a:p>
            <a:pPr marR="0" lvl="1">
              <a:lnSpc>
                <a:spcPct val="115000"/>
              </a:lnSpc>
              <a:spcBef>
                <a:spcPts val="0"/>
              </a:spcBef>
              <a:spcAft>
                <a:spcPts val="0"/>
              </a:spcAft>
            </a:pPr>
            <a:endParaRPr lang="en-US" dirty="0">
              <a:solidFill>
                <a:srgbClr val="538135"/>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0566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B212331E-D7C5-4887-9680-05A9064E21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4BA5E4D9-6F74-4BC2-85C6-495D1659C2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CA6D9C79-C13F-4BC6-B48D-96F36C0C5111}"/>
              </a:ext>
            </a:extLst>
          </p:cNvPr>
          <p:cNvSpPr txBox="1"/>
          <p:nvPr/>
        </p:nvSpPr>
        <p:spPr>
          <a:xfrm>
            <a:off x="864077" y="946370"/>
            <a:ext cx="9671284" cy="4531497"/>
          </a:xfrm>
          <a:prstGeom prst="rect">
            <a:avLst/>
          </a:prstGeom>
          <a:noFill/>
        </p:spPr>
        <p:txBody>
          <a:bodyPr wrap="square">
            <a:spAutoFit/>
          </a:bodyPr>
          <a:lstStyle/>
          <a:p>
            <a:pPr marR="0" lvl="1">
              <a:lnSpc>
                <a:spcPct val="115000"/>
              </a:lnSpc>
              <a:spcBef>
                <a:spcPts val="0"/>
              </a:spcBef>
              <a:spcAft>
                <a:spcPts val="0"/>
              </a:spcAft>
            </a:pPr>
            <a:r>
              <a:rPr lang="mn-MN" b="1" dirty="0">
                <a:solidFill>
                  <a:srgbClr val="2F5496"/>
                </a:solidFill>
                <a:effectLst/>
                <a:latin typeface="Arial" panose="020B0604020202020204" pitchFamily="34" charset="0"/>
                <a:ea typeface="Times New Roman" panose="02020603050405020304" pitchFamily="18" charset="0"/>
                <a:cs typeface="Arial" panose="020B0604020202020204" pitchFamily="34" charset="0"/>
              </a:rPr>
              <a:t>Зах зээл ба Боломж</a:t>
            </a:r>
          </a:p>
          <a:p>
            <a:pPr marR="0" lvl="1">
              <a:lnSpc>
                <a:spcPct val="115000"/>
              </a:lnSpc>
              <a:spcBef>
                <a:spcPts val="0"/>
              </a:spcBef>
              <a:spcAft>
                <a:spcPts val="0"/>
              </a:spcAft>
            </a:pPr>
            <a:endParaRPr lang="en-US" b="1" dirty="0">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971550" lvl="1" algn="just">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Энэ хэсэгт зах зээлийн өнөөгийн нөхцөл байдал, тулгарч буй хэрэгцээг тодорхойлж, тэдгээрийг ашиглан үнэ цэн бүтээх төслийн боломж болон хэрэгжүүлэх стратегийг тусгаж өгнө</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a:t>
            </a:r>
            <a:endPar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a:p>
            <a:pPr marL="971550" lvl="1">
              <a:lnSpc>
                <a:spcPct val="115000"/>
              </a:lnSpc>
            </a:pPr>
            <a:endPar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a:p>
            <a:pPr marL="971550" lvl="1">
              <a:lnSpc>
                <a:spcPct val="115000"/>
              </a:lnSpc>
            </a:pPr>
            <a:endParaRPr lang="mn-MN" dirty="0">
              <a:solidFill>
                <a:srgbClr val="538135"/>
              </a:solidFill>
              <a:effectLst/>
              <a:latin typeface="Arial" panose="020B0604020202020204" pitchFamily="34" charset="0"/>
              <a:ea typeface="Calibri" panose="020F0502020204030204" pitchFamily="34" charset="0"/>
              <a:cs typeface="Times New Roman" panose="02020603050405020304" pitchFamily="18" charset="0"/>
            </a:endParaRPr>
          </a:p>
          <a:p>
            <a:pPr marL="971550" lvl="1">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ЖШ: </a:t>
            </a:r>
          </a:p>
          <a:p>
            <a:pPr marL="1257300" lvl="1" indent="-285750" algn="just">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Цар хүрээ: Нийт хамарч болох зах зээл эсвэл газарзүйн хамрах хүрээ (жишээ нь: орон нутгийн </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vs </a:t>
            </a: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улсын хэмжээнд).</a:t>
            </a:r>
          </a:p>
          <a:p>
            <a:pPr marL="1257300" lvl="1" indent="-285750" algn="just">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Тренүүд: Яагаад яг одоо эхлэх цаг нь вэ? (Хууль эрх зүй, эдийн засаг эсвэл технологийн бэлэн байдал).</a:t>
            </a:r>
          </a:p>
          <a:p>
            <a:pPr marL="1257300" lvl="1" indent="-285750" algn="just">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Баталгаажуулалт: Туршилтын үр дүн эсвэл урьдчилсан судалгааны тоон мэдээллүүд.</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6980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814873" y="1452432"/>
            <a:ext cx="9023719" cy="1976567"/>
          </a:xfrm>
          <a:prstGeom prst="rect">
            <a:avLst/>
          </a:prstGeom>
          <a:noFill/>
        </p:spPr>
        <p:txBody>
          <a:bodyPr wrap="square">
            <a:spAutoFit/>
          </a:bodyPr>
          <a:lstStyle/>
          <a:p>
            <a:pPr marR="0" lvl="1" algn="just">
              <a:lnSpc>
                <a:spcPct val="115000"/>
              </a:lnSpc>
              <a:spcBef>
                <a:spcPts val="0"/>
              </a:spcBef>
              <a:spcAft>
                <a:spcPts val="0"/>
              </a:spcAft>
            </a:pPr>
            <a:r>
              <a:rPr lang="mn-MN" b="1"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rPr>
              <a:t>Хэрэгжих механизм</a:t>
            </a:r>
          </a:p>
          <a:p>
            <a:pPr marR="0" lvl="1" algn="just">
              <a:lnSpc>
                <a:spcPct val="115000"/>
              </a:lnSpc>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971550" lvl="1" algn="just">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Энэ хэсэгт төслийг хэрэгжүүлэх үйл ажиллагааны стратеги, оролцогч талуудын хамтын ажиллагаа болон хэрэгжилтийн шалгуур үзүүлэлтүүд болон тавьсан зорилгодоо хүрэхэд ашиглах аргачлал болон нөөцийн зохицуулалтыг дэлгэрэнгүй тусгаж өгнө.</a:t>
            </a:r>
          </a:p>
        </p:txBody>
      </p:sp>
    </p:spTree>
    <p:extLst>
      <p:ext uri="{BB962C8B-B14F-4D97-AF65-F5344CB8AC3E}">
        <p14:creationId xmlns:p14="http://schemas.microsoft.com/office/powerpoint/2010/main" val="3000700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779703" y="1452432"/>
            <a:ext cx="9296281" cy="1976567"/>
          </a:xfrm>
          <a:prstGeom prst="rect">
            <a:avLst/>
          </a:prstGeom>
          <a:noFill/>
        </p:spPr>
        <p:txBody>
          <a:bodyPr wrap="square">
            <a:spAutoFit/>
          </a:bodyPr>
          <a:lstStyle/>
          <a:p>
            <a:pPr marR="0" lvl="1">
              <a:lnSpc>
                <a:spcPct val="115000"/>
              </a:lnSpc>
              <a:spcBef>
                <a:spcPts val="0"/>
              </a:spcBef>
              <a:spcAft>
                <a:spcPts val="0"/>
              </a:spcAft>
            </a:pPr>
            <a:r>
              <a:rPr lang="mn-MN" b="1"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rPr>
              <a:t>Хэрэгжүүлэх төлөвлөгөө цаг хугацаа</a:t>
            </a:r>
          </a:p>
          <a:p>
            <a:pPr marR="0" lvl="1">
              <a:lnSpc>
                <a:spcPct val="115000"/>
              </a:lnSpc>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971550" lvl="1" algn="just">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Энэхүү хэсэгт төслийг амжилттай хэрэгжүүлэхэд шаардлагатай ажлын төлөвлөгөө</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(timeline)</a:t>
            </a: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 үйл ажиллагааны дараалал болон тэдгээрийг хэрэгжүүлэх арга замыг логик уялдаа холбоотойгоор тусгаж өгнө.</a:t>
            </a:r>
          </a:p>
          <a:p>
            <a:pPr marL="971550" lvl="1">
              <a:lnSpc>
                <a:spcPct val="115000"/>
              </a:lnSpc>
            </a:pPr>
            <a:endPar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44391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896341" y="1104631"/>
            <a:ext cx="10394802" cy="4524957"/>
          </a:xfrm>
          <a:prstGeom prst="rect">
            <a:avLst/>
          </a:prstGeom>
          <a:noFill/>
        </p:spPr>
        <p:txBody>
          <a:bodyPr wrap="square">
            <a:spAutoFit/>
          </a:bodyPr>
          <a:lstStyle/>
          <a:p>
            <a:pPr marR="0" lvl="1">
              <a:lnSpc>
                <a:spcPct val="115000"/>
              </a:lnSpc>
              <a:spcBef>
                <a:spcPts val="0"/>
              </a:spcBef>
              <a:spcAft>
                <a:spcPts val="0"/>
              </a:spcAft>
            </a:pPr>
            <a:r>
              <a:rPr lang="mn-MN" b="1"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rPr>
              <a:t>Нөөц ба Төсөв</a:t>
            </a:r>
          </a:p>
          <a:p>
            <a:pPr marR="0" lvl="1">
              <a:lnSpc>
                <a:spcPct val="115000"/>
              </a:lnSpc>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971550" lvl="1" algn="just">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Энэ хэсэгт хэрхэн санал болгож буй төсөлийн санхүүжилтийн тоймыг тусгаж өгнө</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a:t>
            </a: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 Үүнд төслийн хэрэгжилтэд шаардагдах нийт төсөв, санхүүжилтийн эх үүсвэр болон шаардлагатай нөөцүүдийн нэгдсэн тооцоолол зэрэг орно. Энэ нь ихэвчлэн зардлын үр ашгийн шинжилгээ хэлбэрээр хийгддэг. Үүний зорилго нь төслийн зардлыг дүрслэн харуулах, үр өгөөж, хэмнэлттэй харьцуулан төсөл хэрэгжүүлэхэд үнэ цэнэтэй эсэхийг тодорхойлох явдал юм.</a:t>
            </a:r>
          </a:p>
          <a:p>
            <a:pPr marL="971550" lvl="1">
              <a:lnSpc>
                <a:spcPct val="115000"/>
              </a:lnSpc>
            </a:pPr>
            <a:endPar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a:p>
            <a:pPr marL="971550" lvl="1">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ЖШ: </a:t>
            </a:r>
          </a:p>
          <a:p>
            <a:pPr marL="1257300" lvl="1" indent="-285750">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Зардлын задаргаа (Жишээ нь: Тоног төхөөрөмж 40%, ажиллах хүч 30%, маркетинг/админ 30%).</a:t>
            </a:r>
          </a:p>
          <a:p>
            <a:pPr marL="1257300" lvl="1" indent="-285750">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Хүлээгдэж буй үр ашиг (</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ROI) </a:t>
            </a: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эсвэл нийгмийн нөлөөллийн үзүүлэлтүүд.</a:t>
            </a:r>
          </a:p>
          <a:p>
            <a:pPr marL="1257300" lvl="1" indent="-285750">
              <a:lnSpc>
                <a:spcPct val="115000"/>
              </a:lnSpc>
              <a:buFont typeface="Arial" panose="020B0604020202020204" pitchFamily="34" charset="0"/>
              <a:buChar char="•"/>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Нийт төсөв.</a:t>
            </a:r>
            <a:endPar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87434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pic>
        <p:nvPicPr>
          <p:cNvPr id="7" name="Picture 6">
            <a:extLst>
              <a:ext uri="{FF2B5EF4-FFF2-40B4-BE49-F238E27FC236}">
                <a16:creationId xmlns:a16="http://schemas.microsoft.com/office/drawing/2014/main" id="{A40EEEAA-9F86-45C1-AFA7-639A54DD5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 y="-1"/>
            <a:ext cx="12192000" cy="6858000"/>
          </a:xfrm>
          <a:prstGeom prst="rect">
            <a:avLst/>
          </a:prstGeom>
        </p:spPr>
      </p:pic>
      <p:pic>
        <p:nvPicPr>
          <p:cNvPr id="8" name="Picture 7">
            <a:extLst>
              <a:ext uri="{FF2B5EF4-FFF2-40B4-BE49-F238E27FC236}">
                <a16:creationId xmlns:a16="http://schemas.microsoft.com/office/drawing/2014/main" id="{07873EEE-C0A9-475B-9625-0097F872E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81883" y="220321"/>
            <a:ext cx="2189512" cy="505727"/>
          </a:xfrm>
          <a:prstGeom prst="rect">
            <a:avLst/>
          </a:prstGeom>
        </p:spPr>
      </p:pic>
      <p:sp>
        <p:nvSpPr>
          <p:cNvPr id="6" name="TextBox 5">
            <a:extLst>
              <a:ext uri="{FF2B5EF4-FFF2-40B4-BE49-F238E27FC236}">
                <a16:creationId xmlns:a16="http://schemas.microsoft.com/office/drawing/2014/main" id="{3DCAB7B1-2BB2-4C0F-A1A6-473A119E3BDA}"/>
              </a:ext>
            </a:extLst>
          </p:cNvPr>
          <p:cNvSpPr txBox="1"/>
          <p:nvPr/>
        </p:nvSpPr>
        <p:spPr>
          <a:xfrm>
            <a:off x="1008304" y="1407895"/>
            <a:ext cx="8953381" cy="1658018"/>
          </a:xfrm>
          <a:prstGeom prst="rect">
            <a:avLst/>
          </a:prstGeom>
          <a:noFill/>
        </p:spPr>
        <p:txBody>
          <a:bodyPr wrap="square">
            <a:spAutoFit/>
          </a:bodyPr>
          <a:lstStyle/>
          <a:p>
            <a:pPr marR="0" lvl="1">
              <a:lnSpc>
                <a:spcPct val="115000"/>
              </a:lnSpc>
              <a:spcBef>
                <a:spcPts val="0"/>
              </a:spcBef>
              <a:spcAft>
                <a:spcPts val="0"/>
              </a:spcAft>
            </a:pPr>
            <a:r>
              <a:rPr lang="mn-MN" b="1"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rPr>
              <a:t>Дүгнэлт</a:t>
            </a:r>
          </a:p>
          <a:p>
            <a:pPr marR="0" lvl="1">
              <a:lnSpc>
                <a:spcPct val="115000"/>
              </a:lnSpc>
              <a:spcBef>
                <a:spcPts val="0"/>
              </a:spcBef>
              <a:spcAft>
                <a:spcPts val="0"/>
              </a:spcAft>
            </a:pPr>
            <a:r>
              <a:rPr lang="en-US" dirty="0">
                <a:effectLst/>
                <a:latin typeface="Calibri" panose="020F0502020204030204" pitchFamily="34" charset="0"/>
                <a:ea typeface="Calibri" panose="020F0502020204030204" pitchFamily="34" charset="0"/>
                <a:cs typeface="Times New Roman" panose="02020603050405020304" pitchFamily="18" charset="0"/>
              </a:rPr>
              <a:t> </a:t>
            </a:r>
          </a:p>
          <a:p>
            <a:pPr marL="971550" lvl="1" algn="just">
              <a:lnSpc>
                <a:spcPct val="115000"/>
              </a:lnSpc>
            </a:pPr>
            <a:r>
              <a:rPr lang="mn-MN" dirty="0">
                <a:solidFill>
                  <a:srgbClr val="538135"/>
                </a:solidFill>
                <a:latin typeface="Arial" panose="020B0604020202020204" pitchFamily="34" charset="0"/>
                <a:ea typeface="Calibri" panose="020F0502020204030204" pitchFamily="34" charset="0"/>
                <a:cs typeface="Times New Roman" panose="02020603050405020304" pitchFamily="18" charset="0"/>
              </a:rPr>
              <a:t>Энэхүү хэсэгт төслийн хүрээнд хийгдсэн дүн шинжилгээ болон хэрэгжүүлэх санаачлагуудын үр дүнг нэгтгэн, зах зээлд үзүүлэх эерэг нөлөө, цаашдын тогтвортой өсөлтийн боломжийг дүгнэн тусгаж өгнө</a:t>
            </a:r>
            <a:r>
              <a:rPr lang="en-US" dirty="0">
                <a:solidFill>
                  <a:srgbClr val="538135"/>
                </a:solidFill>
                <a:latin typeface="Arial" panose="020B0604020202020204" pitchFamily="34"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626069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617</TotalTime>
  <Words>1115</Words>
  <Application>Microsoft Office PowerPoint</Application>
  <PresentationFormat>Widescreen</PresentationFormat>
  <Paragraphs>56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Segoe UI Historic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Нямдулам.Т - Ерөнхий менежер /Тэсо Инвестмэнт ХХК/ 94941411</dc:creator>
  <cp:lastModifiedBy>Сарнай Хулдгай</cp:lastModifiedBy>
  <cp:revision>37</cp:revision>
  <dcterms:created xsi:type="dcterms:W3CDTF">2024-04-03T07:43:29Z</dcterms:created>
  <dcterms:modified xsi:type="dcterms:W3CDTF">2026-04-22T18:13:23Z</dcterms:modified>
</cp:coreProperties>
</file>