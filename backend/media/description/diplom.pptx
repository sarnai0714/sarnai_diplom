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8" r:id="rId6"/>
    <p:sldId id="261" r:id="rId7"/>
    <p:sldId id="263" r:id="rId8"/>
    <p:sldId id="264" r:id="rId9"/>
    <p:sldId id="266" r:id="rId10"/>
    <p:sldId id="267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DEC90A-3F57-4B82-BB51-FDEF8A2C74D4}">
  <a:tblStyle styleId="{37DEC90A-3F57-4B82-BB51-FDEF8A2C74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4F6B350-A629-67EB-1B95-89DE57E9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8B586BB9-DB54-B688-6F18-29708C394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B50B412E-96D2-CCA4-BAFA-2616C89AF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6460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45372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БАЙГУУЛЛАГЫН ХҮНИЙ НӨӨЦ &amp; ТӨСЛИЙН УДИРДЛАГЫН СИСТЕМ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4080420"/>
            <a:ext cx="1143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916789" y="5737769"/>
            <a:ext cx="1104900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mn-MN" sz="2400" noProof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Мэдээллийн систем</a:t>
            </a:r>
            <a:r>
              <a:rPr lang="en-US" sz="2400" noProof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4</a:t>
            </a:r>
            <a:r>
              <a:rPr lang="mn-MN" sz="2400" noProof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: Б. Одонтунгалаг/IS22D011/</a:t>
            </a:r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C13645F5-1CA9-5DD0-D172-52EFC7C88999}"/>
              </a:ext>
            </a:extLst>
          </p:cNvPr>
          <p:cNvSpPr/>
          <p:nvPr/>
        </p:nvSpPr>
        <p:spPr>
          <a:xfrm>
            <a:off x="2508184" y="206888"/>
            <a:ext cx="1187516" cy="1187516"/>
          </a:xfrm>
          <a:custGeom>
            <a:avLst/>
            <a:gdLst/>
            <a:ahLst/>
            <a:cxnLst/>
            <a:rect l="l" t="t" r="r" b="b"/>
            <a:pathLst>
              <a:path w="3107989" h="3107989">
                <a:moveTo>
                  <a:pt x="0" y="0"/>
                </a:moveTo>
                <a:lnTo>
                  <a:pt x="3107989" y="0"/>
                </a:lnTo>
                <a:lnTo>
                  <a:pt x="3107989" y="3107989"/>
                </a:lnTo>
                <a:lnTo>
                  <a:pt x="0" y="3107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8D0BBD1F-B5BF-C32D-AD74-AABD46668AE9}"/>
              </a:ext>
            </a:extLst>
          </p:cNvPr>
          <p:cNvSpPr txBox="1"/>
          <p:nvPr/>
        </p:nvSpPr>
        <p:spPr>
          <a:xfrm>
            <a:off x="1831909" y="672867"/>
            <a:ext cx="9182045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МАНДАХ ИХ СУРГУУЛЬ</a:t>
            </a:r>
          </a:p>
          <a:p>
            <a:pPr algn="ctr"/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МЭДЭЭЛЭЛ, ТЕХНОЛОГИЙН СУРГУУЛЬ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41B94C3-9102-154C-87B0-0A50177118BF}"/>
              </a:ext>
            </a:extLst>
          </p:cNvPr>
          <p:cNvSpPr/>
          <p:nvPr/>
        </p:nvSpPr>
        <p:spPr>
          <a:xfrm rot="5400000">
            <a:off x="305542" y="3687257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9B5B304-841C-B15E-F7CC-BBFCF70476FB}"/>
              </a:ext>
            </a:extLst>
          </p:cNvPr>
          <p:cNvSpPr/>
          <p:nvPr/>
        </p:nvSpPr>
        <p:spPr>
          <a:xfrm flipH="1">
            <a:off x="-225491" y="250128"/>
            <a:ext cx="1178046" cy="2437914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F94DD6D-75B3-AB9F-A393-52A6552DF87C}"/>
              </a:ext>
            </a:extLst>
          </p:cNvPr>
          <p:cNvSpPr/>
          <p:nvPr/>
        </p:nvSpPr>
        <p:spPr>
          <a:xfrm>
            <a:off x="-1659489" y="3275810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81ECD24-15F4-A6B5-59C9-49C1763229B7}"/>
              </a:ext>
            </a:extLst>
          </p:cNvPr>
          <p:cNvSpPr/>
          <p:nvPr/>
        </p:nvSpPr>
        <p:spPr>
          <a:xfrm flipV="1">
            <a:off x="150019" y="4770749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A2F5D793-B7EB-F99D-0702-A3BDE6FBA7E5}"/>
              </a:ext>
            </a:extLst>
          </p:cNvPr>
          <p:cNvSpPr/>
          <p:nvPr/>
        </p:nvSpPr>
        <p:spPr>
          <a:xfrm flipV="1">
            <a:off x="11766830" y="2375353"/>
            <a:ext cx="1383740" cy="2777580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B0E90804-A397-D68C-27D7-4007D48F6928}"/>
              </a:ext>
            </a:extLst>
          </p:cNvPr>
          <p:cNvSpPr/>
          <p:nvPr/>
        </p:nvSpPr>
        <p:spPr>
          <a:xfrm rot="5400000" flipH="1" flipV="1">
            <a:off x="10702973" y="-795562"/>
            <a:ext cx="1282875" cy="2761979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CB5B8F4F-037B-58A8-8F2B-500ECE917A9F}"/>
              </a:ext>
            </a:extLst>
          </p:cNvPr>
          <p:cNvSpPr/>
          <p:nvPr/>
        </p:nvSpPr>
        <p:spPr>
          <a:xfrm flipV="1">
            <a:off x="11648624" y="494246"/>
            <a:ext cx="1276593" cy="1592123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8DC18DB-27F9-A15C-C492-6F18718E4FC6}"/>
              </a:ext>
            </a:extLst>
          </p:cNvPr>
          <p:cNvSpPr/>
          <p:nvPr/>
        </p:nvSpPr>
        <p:spPr>
          <a:xfrm>
            <a:off x="10598091" y="205262"/>
            <a:ext cx="1231652" cy="615826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48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876565" y="1833298"/>
            <a:ext cx="1066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25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Системийн зорилго:</a:t>
            </a:r>
            <a:r>
              <a:rPr lang="mn-MN" sz="2500" b="0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Яагаад энэ системийг хөгжүүлж байна вэ?</a:t>
            </a:r>
            <a:endParaRPr lang="mn-MN" sz="2500" noProof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905000" y="2516849"/>
            <a:ext cx="1066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25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Хөгжүүлэх үндэслэл:</a:t>
            </a:r>
            <a:r>
              <a:rPr lang="mn-MN" sz="2500" b="0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Одоогийн тулгамдаж буй асуудлууд.</a:t>
            </a:r>
            <a:endParaRPr lang="mn-MN" sz="2500" noProof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890609" y="3261760"/>
            <a:ext cx="1066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25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Хамрах хүрээ:</a:t>
            </a:r>
            <a:r>
              <a:rPr lang="mn-MN" sz="2500" b="0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Системийн үндсэн модулиуд.</a:t>
            </a:r>
            <a:endParaRPr lang="mn-MN" sz="2500" noProof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940065" y="4107812"/>
            <a:ext cx="1066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25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Шаардлага:</a:t>
            </a:r>
            <a:r>
              <a:rPr lang="mn-MN" sz="2500" b="0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Хэрэглэгчийн болон техникийн шаардлагууд.</a:t>
            </a:r>
            <a:endParaRPr lang="mn-MN" sz="2500" noProof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954764" y="4829239"/>
            <a:ext cx="1066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25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Архитектур:</a:t>
            </a:r>
            <a:r>
              <a:rPr lang="mn-MN" sz="2500" b="0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Технологийн сонголт ба бүтэц.</a:t>
            </a:r>
            <a:endParaRPr lang="mn-MN" sz="2500" noProof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0944" y="204006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0943" y="274256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1000" y="349553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42989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5045075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905000" y="528723"/>
            <a:ext cx="116014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50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А</a:t>
            </a:r>
            <a:r>
              <a:rPr lang="mn-MN" sz="50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гуулга</a:t>
            </a:r>
            <a:endParaRPr sz="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1355725"/>
            <a:ext cx="11049000" cy="19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B3BE74F5-4382-710D-D6F3-4E1907388DEC}"/>
              </a:ext>
            </a:extLst>
          </p:cNvPr>
          <p:cNvSpPr/>
          <p:nvPr/>
        </p:nvSpPr>
        <p:spPr>
          <a:xfrm rot="5400000">
            <a:off x="-150200" y="4372133"/>
            <a:ext cx="1837677" cy="3688767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6EF361D-E1D2-DDB9-DB0E-34F54D17CCF9}"/>
              </a:ext>
            </a:extLst>
          </p:cNvPr>
          <p:cNvSpPr/>
          <p:nvPr/>
        </p:nvSpPr>
        <p:spPr>
          <a:xfrm flipH="1">
            <a:off x="-225491" y="-359472"/>
            <a:ext cx="1178046" cy="2437914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C4CB359-0CF6-7F30-E045-3F00158D2DB1}"/>
              </a:ext>
            </a:extLst>
          </p:cNvPr>
          <p:cNvSpPr/>
          <p:nvPr/>
        </p:nvSpPr>
        <p:spPr>
          <a:xfrm>
            <a:off x="-432719" y="3875540"/>
            <a:ext cx="1545848" cy="1927927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9F4E3B0C-3B59-2B7D-C96D-DBD4C8A6F4BA}"/>
              </a:ext>
            </a:extLst>
          </p:cNvPr>
          <p:cNvSpPr/>
          <p:nvPr/>
        </p:nvSpPr>
        <p:spPr>
          <a:xfrm flipV="1">
            <a:off x="-42033" y="5922154"/>
            <a:ext cx="1621345" cy="810673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52DE0139-7682-ABA2-6945-79C75186871F}"/>
              </a:ext>
            </a:extLst>
          </p:cNvPr>
          <p:cNvSpPr/>
          <p:nvPr/>
        </p:nvSpPr>
        <p:spPr>
          <a:xfrm flipV="1">
            <a:off x="11766830" y="2375353"/>
            <a:ext cx="1383740" cy="2777580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AA89196D-3BB7-9B1B-B42B-F381168C64F6}"/>
              </a:ext>
            </a:extLst>
          </p:cNvPr>
          <p:cNvSpPr/>
          <p:nvPr/>
        </p:nvSpPr>
        <p:spPr>
          <a:xfrm rot="5400000" flipH="1" flipV="1">
            <a:off x="10702973" y="-795562"/>
            <a:ext cx="1282875" cy="2761979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DC6A925-3EA0-35D5-08C3-A79C4A271206}"/>
              </a:ext>
            </a:extLst>
          </p:cNvPr>
          <p:cNvSpPr/>
          <p:nvPr/>
        </p:nvSpPr>
        <p:spPr>
          <a:xfrm flipV="1">
            <a:off x="11648624" y="494246"/>
            <a:ext cx="1276593" cy="1592123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4FF8CD28-1A7F-32C1-A439-60D9920A82F7}"/>
              </a:ext>
            </a:extLst>
          </p:cNvPr>
          <p:cNvSpPr/>
          <p:nvPr/>
        </p:nvSpPr>
        <p:spPr>
          <a:xfrm>
            <a:off x="10598091" y="205262"/>
            <a:ext cx="1231652" cy="615826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4562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14562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14562"/>
            <a:ext cx="3492549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52500" y="3102292"/>
            <a:ext cx="2867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A9D8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Ирцийн хяналт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730799" y="3102292"/>
            <a:ext cx="28670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A9D8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Бүтээмж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029231" y="3582233"/>
            <a:ext cx="257708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0" i="0" u="none" strike="noStrike" cap="none" noProof="0" dirty="0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Ажилчдын цаг ашиглалтыг бодит цаг хугацаанд хянах, хоцролт болон таслалт бу</a:t>
            </a:r>
            <a:r>
              <a:rPr lang="mn-MN" sz="1600" dirty="0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юу ирцийн бүртгэлийг</a:t>
            </a:r>
            <a:r>
              <a:rPr lang="mn-MN" sz="1600" b="0" i="0" u="none" strike="noStrike" cap="none" noProof="0" dirty="0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автоматжуулах.</a:t>
            </a:r>
            <a:endParaRPr lang="mn-MN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730799" y="3645217"/>
            <a:ext cx="2730549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0" i="0" u="none" strike="noStrike" cap="none" noProof="0" dirty="0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Төсөл, даалгаврын биелэлтийг хэлтэс бүрээр гаргаж, үйл ажиллагааны үр ашгийг 40%-иар нэмэгдүүлэх.</a:t>
            </a:r>
            <a:endParaRPr lang="mn-MN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509099" y="3102292"/>
            <a:ext cx="28670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A9D8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Ил тод байдал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509099" y="3645217"/>
            <a:ext cx="273054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Удирдлагын шийдвэр гаргалтыг датад суурилсан, бодитой мэдээллээр хангах.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4164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4164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41649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15379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50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Системийн</a:t>
            </a:r>
            <a:r>
              <a:rPr lang="mn-MN" sz="54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зорилго</a:t>
            </a:r>
            <a:endParaRPr lang="mn-MN" sz="5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1349969"/>
            <a:ext cx="11049000" cy="19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 t="23355" b="44288"/>
          <a:stretch>
            <a:fillRect/>
          </a:stretch>
        </p:blipFill>
        <p:spPr>
          <a:xfrm>
            <a:off x="1692021" y="1685484"/>
            <a:ext cx="7548372" cy="120548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1367028" y="2932747"/>
            <a:ext cx="9185148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Байгууллагын үйл ажиллагаа цахимжаагүйгээс үүдэлтэй дараах асуудлуудыг шийдвэрлэхээр энэхүү системийг хөгжүүлэв:</a:t>
            </a:r>
          </a:p>
          <a:p>
            <a:pPr algn="just">
              <a:lnSpc>
                <a:spcPct val="150000"/>
              </a:lnSpc>
            </a:pPr>
            <a:r>
              <a:rPr lang="mn-M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Бүртгэлийн алдаа:</a:t>
            </a: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Гар ирцийн найдваргүй байдлыг халах.</a:t>
            </a:r>
          </a:p>
          <a:p>
            <a:pPr algn="just">
              <a:lnSpc>
                <a:spcPct val="150000"/>
              </a:lnSpc>
            </a:pPr>
            <a:r>
              <a:rPr lang="mn-M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Мэдээллийн замбараагүй байдал:</a:t>
            </a: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Чат аар өгдөг даалгаврыг системд 	оруулж, гүйцэтгэлийг хянах.</a:t>
            </a:r>
          </a:p>
          <a:p>
            <a:pPr algn="just">
              <a:lnSpc>
                <a:spcPct val="150000"/>
              </a:lnSpc>
            </a:pPr>
            <a:r>
              <a:rPr lang="mn-M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Орчин үеийн шийдэл:</a:t>
            </a: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GPS-</a:t>
            </a: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 суурилсан ирц, өгөгдөл дээр тулгуурласан 	бүтээмжийн үнэлгээг нэвтрүүлэх.</a:t>
            </a:r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50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Систем хөгжүүлэх үндэслэл</a:t>
            </a:r>
            <a:endParaRPr lang="mn-MN" sz="5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1363669"/>
            <a:ext cx="11049000" cy="19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2AB8CD8B-2695-CA60-6B60-3A7B2307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>
            <a:extLst>
              <a:ext uri="{FF2B5EF4-FFF2-40B4-BE49-F238E27FC236}">
                <a16:creationId xmlns:a16="http://schemas.microsoft.com/office/drawing/2014/main" id="{45925EF2-1303-72DB-F482-1B453D7C96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6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>
            <a:extLst>
              <a:ext uri="{FF2B5EF4-FFF2-40B4-BE49-F238E27FC236}">
                <a16:creationId xmlns:a16="http://schemas.microsoft.com/office/drawing/2014/main" id="{96E6BC98-F864-5FC6-E01B-808AFBC723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04FFA755-884A-8048-5F87-C66DC8B042D9}"/>
              </a:ext>
            </a:extLst>
          </p:cNvPr>
          <p:cNvSpPr txBox="1"/>
          <p:nvPr/>
        </p:nvSpPr>
        <p:spPr>
          <a:xfrm>
            <a:off x="590550" y="557187"/>
            <a:ext cx="116014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50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Системийн хамрах хүрээ</a:t>
            </a:r>
            <a:endParaRPr lang="mn-MN" sz="5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7">
            <a:extLst>
              <a:ext uri="{FF2B5EF4-FFF2-40B4-BE49-F238E27FC236}">
                <a16:creationId xmlns:a16="http://schemas.microsoft.com/office/drawing/2014/main" id="{578AE2B0-AB93-2804-9E16-546428F0A5A9}"/>
              </a:ext>
            </a:extLst>
          </p:cNvPr>
          <p:cNvSpPr/>
          <p:nvPr/>
        </p:nvSpPr>
        <p:spPr>
          <a:xfrm>
            <a:off x="571500" y="1307578"/>
            <a:ext cx="11049000" cy="19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" name="Google Shape;111;p15" descr="image.png">
            <a:extLst>
              <a:ext uri="{FF2B5EF4-FFF2-40B4-BE49-F238E27FC236}">
                <a16:creationId xmlns:a16="http://schemas.microsoft.com/office/drawing/2014/main" id="{79C3C1AE-D35D-8A7B-2D0C-540E349185A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14562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12;p15" descr="image.png">
            <a:extLst>
              <a:ext uri="{FF2B5EF4-FFF2-40B4-BE49-F238E27FC236}">
                <a16:creationId xmlns:a16="http://schemas.microsoft.com/office/drawing/2014/main" id="{3161050C-7DA0-86AF-6C5B-C8116CE57B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2214562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3;p15" descr="image.png">
            <a:extLst>
              <a:ext uri="{FF2B5EF4-FFF2-40B4-BE49-F238E27FC236}">
                <a16:creationId xmlns:a16="http://schemas.microsoft.com/office/drawing/2014/main" id="{D5A5B7D2-52FB-4D59-55F2-DA13587A9A5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2214562"/>
            <a:ext cx="3492549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1FBBD-7185-60D3-C3F8-9046433BF33F}"/>
              </a:ext>
            </a:extLst>
          </p:cNvPr>
          <p:cNvSpPr txBox="1"/>
          <p:nvPr/>
        </p:nvSpPr>
        <p:spPr>
          <a:xfrm>
            <a:off x="843821" y="2614868"/>
            <a:ext cx="2904067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Back-end: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Django REST Framework &amp; PostgreSQL </a:t>
            </a:r>
            <a:r>
              <a:rPr lang="mn-MN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ашиглан найдвартай логик.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Front-end: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Expo (React Native) </a:t>
            </a:r>
            <a:r>
              <a:rPr lang="mn-MN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технологиор 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Android, iOS </a:t>
            </a:r>
            <a:r>
              <a:rPr lang="mn-MN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болон Вэб дэмжилт.</a:t>
            </a:r>
          </a:p>
          <a:p>
            <a:pPr algn="just">
              <a:spcAft>
                <a:spcPts val="1125"/>
              </a:spcAft>
              <a:buNone/>
            </a:pPr>
            <a:r>
              <a:rPr lang="mn-MN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Шийдэл:</a:t>
            </a:r>
            <a:r>
              <a:rPr lang="mn-MN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Кросс-платформ архитектур нь бүх төхөөрөмж дээр ижил хурдтай ажиллана.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06B66455-B9EA-A8DD-5ADE-490D6FB0A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6280" y="2419606"/>
            <a:ext cx="485775" cy="390525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2C92239E-1EAA-B5A3-7A4F-B66078D32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870" y="3548060"/>
            <a:ext cx="476250" cy="39052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A9FAA95B-8EC6-1A16-9E06-B95B49E3F7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0614" y="4553071"/>
            <a:ext cx="342900" cy="390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718806-5ACE-DEFF-5A5E-D4E4639AE1ED}"/>
              </a:ext>
            </a:extLst>
          </p:cNvPr>
          <p:cNvSpPr txBox="1"/>
          <p:nvPr/>
        </p:nvSpPr>
        <p:spPr>
          <a:xfrm>
            <a:off x="4990556" y="2506000"/>
            <a:ext cx="1148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mn-MN" sz="16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АДМИН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F0109-F393-9CB4-8C3B-1F4F1394CC07}"/>
              </a:ext>
            </a:extLst>
          </p:cNvPr>
          <p:cNvSpPr txBox="1"/>
          <p:nvPr/>
        </p:nvSpPr>
        <p:spPr>
          <a:xfrm>
            <a:off x="4963658" y="3623179"/>
            <a:ext cx="1521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МЕНЕЖЕР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86721-F931-1B47-934F-CE4E852F1CE1}"/>
              </a:ext>
            </a:extLst>
          </p:cNvPr>
          <p:cNvSpPr txBox="1"/>
          <p:nvPr/>
        </p:nvSpPr>
        <p:spPr>
          <a:xfrm>
            <a:off x="4946172" y="4625004"/>
            <a:ext cx="1521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АЖИЛТАН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A95D3A-9827-FF21-C502-A1C289DD298C}"/>
              </a:ext>
            </a:extLst>
          </p:cNvPr>
          <p:cNvSpPr txBox="1"/>
          <p:nvPr/>
        </p:nvSpPr>
        <p:spPr>
          <a:xfrm>
            <a:off x="5092154" y="2853576"/>
            <a:ext cx="25829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mn-MN" sz="1200" b="0" i="0" u="none" strike="noStrike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Байгууллагын бүтэц үүсгэх, ажилтан урих, нэгдсэн </a:t>
            </a:r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KPI </a:t>
            </a:r>
            <a:r>
              <a:rPr lang="mn-MN" sz="1200" b="0" i="0" u="none" strike="noStrike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тайлан хянах.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0DFB08-C4B1-6BC3-96C0-AEED898C510E}"/>
              </a:ext>
            </a:extLst>
          </p:cNvPr>
          <p:cNvSpPr txBox="1"/>
          <p:nvPr/>
        </p:nvSpPr>
        <p:spPr>
          <a:xfrm>
            <a:off x="5032885" y="3996666"/>
            <a:ext cx="25829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mn-MN" sz="1200" b="0" i="0" u="none" strike="noStrike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Баг, төсөл удирдах, даалгавар оноох, гүйцэтгэлийг батлах.</a:t>
            </a:r>
            <a:endParaRPr lang="mn-MN" sz="1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DBDBB6-EA11-CB48-B963-A4D8730F5A9D}"/>
              </a:ext>
            </a:extLst>
          </p:cNvPr>
          <p:cNvSpPr txBox="1"/>
          <p:nvPr/>
        </p:nvSpPr>
        <p:spPr>
          <a:xfrm>
            <a:off x="4981356" y="4921547"/>
            <a:ext cx="2634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GPS-</a:t>
            </a:r>
            <a:r>
              <a:rPr lang="mn-MN" sz="1200" b="0" i="0" u="none" strike="noStrike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ээр ирц бүртгүүлэх, даалгаврын явц шинэчлэх, дотоод харилцаа.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C30DED-6E7E-5E71-60CE-3F2E04B51C6A}"/>
              </a:ext>
            </a:extLst>
          </p:cNvPr>
          <p:cNvSpPr txBox="1"/>
          <p:nvPr/>
        </p:nvSpPr>
        <p:spPr>
          <a:xfrm>
            <a:off x="8457978" y="2719393"/>
            <a:ext cx="28770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mn-MN" sz="16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Энэхүү систем нь уян хатан архитектуртай тул зөвхөн нэг байгууллагаар хязгаарлагдахгүй.</a:t>
            </a:r>
            <a:endParaRPr lang="mn-MN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mn-M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Design: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Төрийн болон ТББ, хувийн хэвшлийн аль ч байгууллага өөрийн онцлогт тохируулан ашиглах боломжтой.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9A044-860F-BA61-6602-0608F54D09CC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369C6C-DA29-CDD5-D3B2-7D1D52FF4D75}"/>
              </a:ext>
            </a:extLst>
          </p:cNvPr>
          <p:cNvSpPr txBox="1"/>
          <p:nvPr/>
        </p:nvSpPr>
        <p:spPr>
          <a:xfrm>
            <a:off x="610343" y="1740070"/>
            <a:ext cx="3397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sz="2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Программын хамрах хүрээ:</a:t>
            </a: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AA136-D025-79B5-2B9D-A0DAFFE039F3}"/>
              </a:ext>
            </a:extLst>
          </p:cNvPr>
          <p:cNvSpPr txBox="1"/>
          <p:nvPr/>
        </p:nvSpPr>
        <p:spPr>
          <a:xfrm>
            <a:off x="4349799" y="1756335"/>
            <a:ext cx="3642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sz="2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Хэрэглэгчийн хамрах хүрээ:</a:t>
            </a: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0773C9-7BB7-2D77-FC07-6CB756543061}"/>
              </a:ext>
            </a:extLst>
          </p:cNvPr>
          <p:cNvSpPr txBox="1"/>
          <p:nvPr/>
        </p:nvSpPr>
        <p:spPr>
          <a:xfrm>
            <a:off x="8128098" y="1504923"/>
            <a:ext cx="4089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sz="2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Ижил төстэй байгууллагуудын хамрах хүрээ:</a:t>
            </a:r>
            <a:r>
              <a:rPr lang="mn-MN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39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685800" y="1905983"/>
            <a:ext cx="5245101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Хэрэглэгчийн функциональ шаардлага 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br>
              <a:rPr lang="en-US" sz="1800" b="1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</a:br>
            <a:r>
              <a:rPr lang="en-US" sz="1800" b="1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b="1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Бодит</a:t>
            </a:r>
            <a:r>
              <a:rPr lang="en-US" sz="18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mn-MN" sz="1800" b="1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цагийн хяналт</a:t>
            </a:r>
            <a:r>
              <a:rPr lang="en-US" sz="18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mn-MN" sz="1800" b="0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Ажилтан</a:t>
            </a:r>
            <a:r>
              <a:rPr lang="en-US" sz="1800" b="0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mn-MN" sz="1800" b="0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ирсэн </a:t>
            </a:r>
            <a:r>
              <a:rPr lang="en-US" sz="1800" b="0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b="0" i="0" u="none" strike="noStrike" cap="none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даруйд удирдлагад мэдэгдэх.</a:t>
            </a:r>
            <a:endParaRPr lang="en-US" sz="1800" b="0" i="0" u="none" strike="noStrike" cap="none" noProof="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1"/>
            <a:br>
              <a:rPr lang="en-US" sz="1800" b="0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</a:br>
            <a:r>
              <a:rPr lang="en-US" sz="1800" b="0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Даалгаврын явц: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Төслийн явцыг хувиар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илэрхийлэн харах.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1"/>
            <a:endParaRPr lang="mn-MN" sz="1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Тайлан: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Сарын эцсийн ирц болон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гүйцэтгэлийн тайланг нэг товчоор үүсгэх.</a:t>
            </a:r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1"/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1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Уян хатан шүүлтүүр: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Сар, хэлтсээр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	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датаг шүүж харах боломж.</a:t>
            </a:r>
            <a:endParaRPr lang="mn-MN" sz="1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mn-MN" sz="1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90550" y="693216"/>
            <a:ext cx="11601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45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Хэрэглэгчийн шаардлага</a:t>
            </a:r>
            <a:endParaRPr lang="mn-MN" sz="4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71500" y="1483569"/>
            <a:ext cx="11049000" cy="19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69190-BBC1-9CFB-CE34-D35B0F79689A}"/>
              </a:ext>
            </a:extLst>
          </p:cNvPr>
          <p:cNvSpPr txBox="1"/>
          <p:nvPr/>
        </p:nvSpPr>
        <p:spPr>
          <a:xfrm>
            <a:off x="6049437" y="1905983"/>
            <a:ext cx="5245101" cy="3432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Хэрэглэгчийн функциональ бус шаардлага 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/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Хэрэглээ: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Ойлгомжтой цэс, хэрэглэхэд хялбар UI.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/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/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Найдвартай байдал: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Өгөгдлийн сангийн нууцлал (PostgreSQL), алдааг мэдээлэх.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/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/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Хурд: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Аппликейшн 2 секундээс илүүгүй хугацаанд ачаалах.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/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>
              <a:lnSpc>
                <a:spcPct val="115000"/>
              </a:lnSpc>
            </a:pPr>
            <a:r>
              <a:rPr lang="mn-MN" sz="18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Дизайн:</a:t>
            </a:r>
            <a:r>
              <a:rPr lang="mn-MN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Mobile responsive.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PlantUML diagram">
            <a:extLst>
              <a:ext uri="{FF2B5EF4-FFF2-40B4-BE49-F238E27FC236}">
                <a16:creationId xmlns:a16="http://schemas.microsoft.com/office/drawing/2014/main" id="{56DB1115-E966-D341-228D-5FECE4DAE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741" y="1654864"/>
            <a:ext cx="5884820" cy="49239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05;p21">
            <a:extLst>
              <a:ext uri="{FF2B5EF4-FFF2-40B4-BE49-F238E27FC236}">
                <a16:creationId xmlns:a16="http://schemas.microsoft.com/office/drawing/2014/main" id="{A1364AA2-33BE-AEDD-956B-6B7C6B005681}"/>
              </a:ext>
            </a:extLst>
          </p:cNvPr>
          <p:cNvSpPr txBox="1"/>
          <p:nvPr/>
        </p:nvSpPr>
        <p:spPr>
          <a:xfrm>
            <a:off x="1549120" y="618604"/>
            <a:ext cx="116014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USE CASE</a:t>
            </a:r>
            <a:endParaRPr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06;p21">
            <a:extLst>
              <a:ext uri="{FF2B5EF4-FFF2-40B4-BE49-F238E27FC236}">
                <a16:creationId xmlns:a16="http://schemas.microsoft.com/office/drawing/2014/main" id="{2877CF7A-B728-1D4E-5F1F-AD1DC75C596D}"/>
              </a:ext>
            </a:extLst>
          </p:cNvPr>
          <p:cNvSpPr/>
          <p:nvPr/>
        </p:nvSpPr>
        <p:spPr>
          <a:xfrm>
            <a:off x="571500" y="1416050"/>
            <a:ext cx="11049000" cy="19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5C7DAA3-7E69-9ECA-76D6-F42B51507167}"/>
              </a:ext>
            </a:extLst>
          </p:cNvPr>
          <p:cNvSpPr/>
          <p:nvPr/>
        </p:nvSpPr>
        <p:spPr>
          <a:xfrm rot="5400000">
            <a:off x="-150200" y="4372133"/>
            <a:ext cx="1837677" cy="3688767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CA9219E-8D71-0CE8-2DBC-71916BF1E169}"/>
              </a:ext>
            </a:extLst>
          </p:cNvPr>
          <p:cNvSpPr/>
          <p:nvPr/>
        </p:nvSpPr>
        <p:spPr>
          <a:xfrm flipH="1">
            <a:off x="-225491" y="-359472"/>
            <a:ext cx="1178046" cy="2437914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FBA3937-35CD-19CC-9715-9219C2A3E7F5}"/>
              </a:ext>
            </a:extLst>
          </p:cNvPr>
          <p:cNvSpPr/>
          <p:nvPr/>
        </p:nvSpPr>
        <p:spPr>
          <a:xfrm>
            <a:off x="-432719" y="3875540"/>
            <a:ext cx="1545848" cy="1927927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9AFDD42-F573-F38E-15F0-85918132208B}"/>
              </a:ext>
            </a:extLst>
          </p:cNvPr>
          <p:cNvSpPr/>
          <p:nvPr/>
        </p:nvSpPr>
        <p:spPr>
          <a:xfrm flipV="1">
            <a:off x="-42033" y="5922154"/>
            <a:ext cx="1621345" cy="810673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7294EE36-8464-484E-07E4-4EF0929E2D50}"/>
              </a:ext>
            </a:extLst>
          </p:cNvPr>
          <p:cNvSpPr/>
          <p:nvPr/>
        </p:nvSpPr>
        <p:spPr>
          <a:xfrm flipV="1">
            <a:off x="11766830" y="2375353"/>
            <a:ext cx="1383740" cy="2777580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FC73DC1A-DDA8-DE84-464E-E290E00F6979}"/>
              </a:ext>
            </a:extLst>
          </p:cNvPr>
          <p:cNvSpPr/>
          <p:nvPr/>
        </p:nvSpPr>
        <p:spPr>
          <a:xfrm rot="5400000" flipH="1" flipV="1">
            <a:off x="10702973" y="-795562"/>
            <a:ext cx="1282875" cy="2761979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B42F0A8-36BF-FC49-64A0-7C775EC78980}"/>
              </a:ext>
            </a:extLst>
          </p:cNvPr>
          <p:cNvSpPr/>
          <p:nvPr/>
        </p:nvSpPr>
        <p:spPr>
          <a:xfrm flipV="1">
            <a:off x="11648624" y="494246"/>
            <a:ext cx="1276593" cy="1592123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5F87ADDC-7C6B-5E1B-C2AD-A25D8CE531AD}"/>
              </a:ext>
            </a:extLst>
          </p:cNvPr>
          <p:cNvSpPr/>
          <p:nvPr/>
        </p:nvSpPr>
        <p:spPr>
          <a:xfrm>
            <a:off x="10598091" y="205262"/>
            <a:ext cx="1231652" cy="615826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6962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66962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66962"/>
            <a:ext cx="3492549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952500" y="3529012"/>
            <a:ext cx="286707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A9D8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Backend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952500" y="4071937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Django REST Framework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500" b="0" i="0" u="none" strike="noStrike" cap="none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Аюулгүй байдал, хурд.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30799" y="3529012"/>
            <a:ext cx="286707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A9D8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Frontend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730799" y="4071937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0" i="0" u="none" strike="noStrike" cap="none" noProof="0" dirty="0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React Native: Expo</a:t>
            </a:r>
            <a:br>
              <a:rPr lang="mn-MN" sz="1800" b="0" i="0" u="none" strike="noStrike" cap="none" noProof="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mn-MN" sz="1500" b="0" i="0" u="none" strike="noStrike" cap="none" noProof="0" dirty="0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Гар утас болон вэб дэмжилт.</a:t>
            </a:r>
            <a:endParaRPr lang="mn-MN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8509099" y="3529012"/>
            <a:ext cx="286707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A9D8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Database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509099" y="4071937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PostgreSQL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500" b="0" i="0" u="none" strike="noStrike" cap="none">
                <a:solidFill>
                  <a:srgbClr val="444444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Том хэмжээний өгөгдөл хадгалах.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8432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8432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8432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571500"/>
            <a:ext cx="116014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5000" b="1" i="0" u="none" strike="noStrike" cap="none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Технологийн сонголт</a:t>
            </a:r>
            <a:endParaRPr lang="mn-MN" sz="5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1334713"/>
            <a:ext cx="11049000" cy="19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561719" y="957633"/>
            <a:ext cx="9068562" cy="449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mn-M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Дүгнэлт</a:t>
            </a:r>
            <a:endParaRPr lang="mn-M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Байгууллагын үйл ажиллагааг дижиталжуулах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E-Office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системийг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болон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технологиор хөгжүүлж дараах үр дүнд хүрэх боломжтой:</a:t>
            </a:r>
          </a:p>
          <a:p>
            <a:pPr lvl="5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Зорилгын биелэлт: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 суурилсан ирц бүртгэл болон даалгавар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удирдлагын шийдлийг нэвтрүүлсэн.</a:t>
            </a:r>
          </a:p>
          <a:p>
            <a:pPr lvl="5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Үр ашиг: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Ирц бүртгэлийг автоматжуулснаар цаг хугацаа хэмнэж, хүний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оролцоотой алдааг бууруулан, ажлын уялдаа холбоог </a:t>
            </a:r>
            <a:r>
              <a:rPr lang="mn-M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30-40%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дээшлүүлэх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боломжтой.</a:t>
            </a:r>
          </a:p>
          <a:p>
            <a:pPr lvl="5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Сорилт: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Хөгжүүлэлтийн явцад файл дамжуулалт болон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 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тохиргоог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шийдвэрлэсэн. Хэрэглэгчийн төхөөрөмжийн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ийн чанар болон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тогтмол интернэт шаардлагатай байгаа нь гол хязгаарлах хүчин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зүйл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болж байсан. </a:t>
            </a:r>
          </a:p>
          <a:p>
            <a:pPr algn="just"/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Энэхүү систем нь өгөгдөлд суурилсан удирдлагыг хэрэгжүүлж, байгууллагын бүтээмжийг бодитой нэмэгдүүлэх ач холбогдолтой юм.</a:t>
            </a:r>
          </a:p>
        </p:txBody>
      </p:sp>
      <p:sp>
        <p:nvSpPr>
          <p:cNvPr id="223" name="Google Shape;223;p23"/>
          <p:cNvSpPr txBox="1"/>
          <p:nvPr/>
        </p:nvSpPr>
        <p:spPr>
          <a:xfrm>
            <a:off x="4732020" y="618993"/>
            <a:ext cx="4000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Google Shape;223;p23">
            <a:extLst>
              <a:ext uri="{FF2B5EF4-FFF2-40B4-BE49-F238E27FC236}">
                <a16:creationId xmlns:a16="http://schemas.microsoft.com/office/drawing/2014/main" id="{4B382442-9FF1-1A46-13CD-57A0338D7D0F}"/>
              </a:ext>
            </a:extLst>
          </p:cNvPr>
          <p:cNvSpPr txBox="1"/>
          <p:nvPr/>
        </p:nvSpPr>
        <p:spPr>
          <a:xfrm>
            <a:off x="7975092" y="5123937"/>
            <a:ext cx="4000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/>
        </p:nvSpPr>
        <p:spPr>
          <a:xfrm>
            <a:off x="895350" y="2251227"/>
            <a:ext cx="10401300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АНХААРАЛ ХАНДУУЛСАНД БАЯРЛАЛАА</a:t>
            </a:r>
            <a:endParaRPr sz="5000" dirty="0"/>
          </a:p>
        </p:txBody>
      </p:sp>
      <p:sp>
        <p:nvSpPr>
          <p:cNvPr id="232" name="Google Shape;232;p24"/>
          <p:cNvSpPr/>
          <p:nvPr/>
        </p:nvSpPr>
        <p:spPr>
          <a:xfrm>
            <a:off x="5524500" y="4411319"/>
            <a:ext cx="1143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549</Words>
  <Application>Microsoft Office PowerPoint</Application>
  <PresentationFormat>Widescreen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Lato</vt:lpstr>
      <vt:lpstr>Arial</vt:lpstr>
      <vt:lpstr>Poppins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odke</dc:creator>
  <cp:lastModifiedBy>Одонтунгалаг Будсүрэн</cp:lastModifiedBy>
  <cp:revision>2</cp:revision>
  <dcterms:modified xsi:type="dcterms:W3CDTF">2026-05-02T18:17:51Z</dcterms:modified>
</cp:coreProperties>
</file>